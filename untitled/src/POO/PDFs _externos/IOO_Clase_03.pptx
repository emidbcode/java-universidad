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</p:sldMasterIdLst>
  <p:notesMasterIdLst>
    <p:notesMasterId r:id="rId30"/>
  </p:notesMasterIdLst>
  <p:sldIdLst>
    <p:sldId id="319" r:id="rId5"/>
    <p:sldId id="320" r:id="rId6"/>
    <p:sldId id="321" r:id="rId7"/>
    <p:sldId id="323" r:id="rId8"/>
    <p:sldId id="322" r:id="rId9"/>
    <p:sldId id="324" r:id="rId10"/>
    <p:sldId id="312" r:id="rId11"/>
    <p:sldId id="313" r:id="rId12"/>
    <p:sldId id="259" r:id="rId13"/>
    <p:sldId id="284" r:id="rId14"/>
    <p:sldId id="285" r:id="rId15"/>
    <p:sldId id="287" r:id="rId16"/>
    <p:sldId id="290" r:id="rId17"/>
    <p:sldId id="289" r:id="rId18"/>
    <p:sldId id="316" r:id="rId19"/>
    <p:sldId id="317" r:id="rId20"/>
    <p:sldId id="291" r:id="rId21"/>
    <p:sldId id="292" r:id="rId22"/>
    <p:sldId id="293" r:id="rId23"/>
    <p:sldId id="296" r:id="rId24"/>
    <p:sldId id="298" r:id="rId25"/>
    <p:sldId id="299" r:id="rId26"/>
    <p:sldId id="300" r:id="rId27"/>
    <p:sldId id="301" r:id="rId28"/>
    <p:sldId id="32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1DEB0-FD99-279B-394F-C73351EA74A9}" v="6" dt="2025-08-21T22:24:26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dio Claudio Jose" userId="7c42878b-9461-4551-9143-e7a67880e586" providerId="ADAL" clId="{F6246A8A-1EC0-4ADE-858F-3A429C9830FD}"/>
    <pc:docChg chg="undo custSel addSld delSld modSld">
      <pc:chgData name="Godio Claudio Jose" userId="7c42878b-9461-4551-9143-e7a67880e586" providerId="ADAL" clId="{F6246A8A-1EC0-4ADE-858F-3A429C9830FD}" dt="2022-03-30T14:37:07.189" v="584" actId="1038"/>
      <pc:docMkLst>
        <pc:docMk/>
      </pc:docMkLst>
      <pc:sldChg chg="modSp mod">
        <pc:chgData name="Godio Claudio Jose" userId="7c42878b-9461-4551-9143-e7a67880e586" providerId="ADAL" clId="{F6246A8A-1EC0-4ADE-858F-3A429C9830FD}" dt="2022-03-30T14:17:05.945" v="227" actId="14100"/>
        <pc:sldMkLst>
          <pc:docMk/>
          <pc:sldMk cId="0" sldId="259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262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264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266"/>
        </pc:sldMkLst>
      </pc:sldChg>
      <pc:sldChg chg="modSp mod">
        <pc:chgData name="Godio Claudio Jose" userId="7c42878b-9461-4551-9143-e7a67880e586" providerId="ADAL" clId="{F6246A8A-1EC0-4ADE-858F-3A429C9830FD}" dt="2022-03-30T14:16:45.061" v="221" actId="207"/>
        <pc:sldMkLst>
          <pc:docMk/>
          <pc:sldMk cId="0" sldId="284"/>
        </pc:sldMkLst>
      </pc:sldChg>
      <pc:sldChg chg="modSp mod">
        <pc:chgData name="Godio Claudio Jose" userId="7c42878b-9461-4551-9143-e7a67880e586" providerId="ADAL" clId="{F6246A8A-1EC0-4ADE-858F-3A429C9830FD}" dt="2022-03-30T14:16:31.523" v="217" actId="122"/>
        <pc:sldMkLst>
          <pc:docMk/>
          <pc:sldMk cId="0" sldId="285"/>
        </pc:sldMkLst>
      </pc:sldChg>
      <pc:sldChg chg="modSp mod">
        <pc:chgData name="Godio Claudio Jose" userId="7c42878b-9461-4551-9143-e7a67880e586" providerId="ADAL" clId="{F6246A8A-1EC0-4ADE-858F-3A429C9830FD}" dt="2022-03-30T14:18:02.529" v="245" actId="14100"/>
        <pc:sldMkLst>
          <pc:docMk/>
          <pc:sldMk cId="0" sldId="287"/>
        </pc:sldMkLst>
      </pc:sldChg>
      <pc:sldChg chg="modSp mod">
        <pc:chgData name="Godio Claudio Jose" userId="7c42878b-9461-4551-9143-e7a67880e586" providerId="ADAL" clId="{F6246A8A-1EC0-4ADE-858F-3A429C9830FD}" dt="2022-03-30T14:19:28.265" v="275" actId="20577"/>
        <pc:sldMkLst>
          <pc:docMk/>
          <pc:sldMk cId="0" sldId="289"/>
        </pc:sldMkLst>
      </pc:sldChg>
      <pc:sldChg chg="modSp mod">
        <pc:chgData name="Godio Claudio Jose" userId="7c42878b-9461-4551-9143-e7a67880e586" providerId="ADAL" clId="{F6246A8A-1EC0-4ADE-858F-3A429C9830FD}" dt="2022-03-30T14:18:21.784" v="252" actId="1076"/>
        <pc:sldMkLst>
          <pc:docMk/>
          <pc:sldMk cId="0" sldId="290"/>
        </pc:sldMkLst>
      </pc:sldChg>
      <pc:sldChg chg="modSp mod">
        <pc:chgData name="Godio Claudio Jose" userId="7c42878b-9461-4551-9143-e7a67880e586" providerId="ADAL" clId="{F6246A8A-1EC0-4ADE-858F-3A429C9830FD}" dt="2022-03-30T14:21:10.214" v="293" actId="207"/>
        <pc:sldMkLst>
          <pc:docMk/>
          <pc:sldMk cId="0" sldId="291"/>
        </pc:sldMkLst>
      </pc:sldChg>
      <pc:sldChg chg="modSp mod">
        <pc:chgData name="Godio Claudio Jose" userId="7c42878b-9461-4551-9143-e7a67880e586" providerId="ADAL" clId="{F6246A8A-1EC0-4ADE-858F-3A429C9830FD}" dt="2022-03-30T14:21:29.091" v="299" actId="207"/>
        <pc:sldMkLst>
          <pc:docMk/>
          <pc:sldMk cId="0" sldId="292"/>
        </pc:sldMkLst>
      </pc:sldChg>
      <pc:sldChg chg="modSp mod">
        <pc:chgData name="Godio Claudio Jose" userId="7c42878b-9461-4551-9143-e7a67880e586" providerId="ADAL" clId="{F6246A8A-1EC0-4ADE-858F-3A429C9830FD}" dt="2022-03-30T14:21:58.363" v="308" actId="207"/>
        <pc:sldMkLst>
          <pc:docMk/>
          <pc:sldMk cId="0" sldId="293"/>
        </pc:sldMkLst>
      </pc:sldChg>
      <pc:sldChg chg="modSp mod">
        <pc:chgData name="Godio Claudio Jose" userId="7c42878b-9461-4551-9143-e7a67880e586" providerId="ADAL" clId="{F6246A8A-1EC0-4ADE-858F-3A429C9830FD}" dt="2022-03-30T14:22:19.196" v="313" actId="404"/>
        <pc:sldMkLst>
          <pc:docMk/>
          <pc:sldMk cId="0" sldId="296"/>
        </pc:sldMkLst>
      </pc:sldChg>
      <pc:sldChg chg="modSp mod">
        <pc:chgData name="Godio Claudio Jose" userId="7c42878b-9461-4551-9143-e7a67880e586" providerId="ADAL" clId="{F6246A8A-1EC0-4ADE-858F-3A429C9830FD}" dt="2022-03-30T14:33:51.018" v="489" actId="20577"/>
        <pc:sldMkLst>
          <pc:docMk/>
          <pc:sldMk cId="0" sldId="298"/>
        </pc:sldMkLst>
      </pc:sldChg>
      <pc:sldChg chg="modSp mod">
        <pc:chgData name="Godio Claudio Jose" userId="7c42878b-9461-4551-9143-e7a67880e586" providerId="ADAL" clId="{F6246A8A-1EC0-4ADE-858F-3A429C9830FD}" dt="2022-03-30T14:29:26.529" v="381" actId="207"/>
        <pc:sldMkLst>
          <pc:docMk/>
          <pc:sldMk cId="0" sldId="299"/>
        </pc:sldMkLst>
      </pc:sldChg>
      <pc:sldChg chg="modSp mod">
        <pc:chgData name="Godio Claudio Jose" userId="7c42878b-9461-4551-9143-e7a67880e586" providerId="ADAL" clId="{F6246A8A-1EC0-4ADE-858F-3A429C9830FD}" dt="2022-03-30T14:30:32.908" v="412" actId="20577"/>
        <pc:sldMkLst>
          <pc:docMk/>
          <pc:sldMk cId="0" sldId="300"/>
        </pc:sldMkLst>
      </pc:sldChg>
      <pc:sldChg chg="modSp mod">
        <pc:chgData name="Godio Claudio Jose" userId="7c42878b-9461-4551-9143-e7a67880e586" providerId="ADAL" clId="{F6246A8A-1EC0-4ADE-858F-3A429C9830FD}" dt="2022-03-30T14:34:33.855" v="509" actId="20577"/>
        <pc:sldMkLst>
          <pc:docMk/>
          <pc:sldMk cId="0" sldId="301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303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304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305"/>
        </pc:sldMkLst>
      </pc:sldChg>
      <pc:sldChg chg="addSp modSp mod">
        <pc:chgData name="Godio Claudio Jose" userId="7c42878b-9461-4551-9143-e7a67880e586" providerId="ADAL" clId="{F6246A8A-1EC0-4ADE-858F-3A429C9830FD}" dt="2022-03-30T14:12:41.078" v="144" actId="14100"/>
        <pc:sldMkLst>
          <pc:docMk/>
          <pc:sldMk cId="0" sldId="312"/>
        </pc:sldMkLst>
      </pc:sldChg>
      <pc:sldChg chg="addSp modSp mod">
        <pc:chgData name="Godio Claudio Jose" userId="7c42878b-9461-4551-9143-e7a67880e586" providerId="ADAL" clId="{F6246A8A-1EC0-4ADE-858F-3A429C9830FD}" dt="2022-03-30T14:17:23.903" v="232" actId="1076"/>
        <pc:sldMkLst>
          <pc:docMk/>
          <pc:sldMk cId="0" sldId="313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315"/>
        </pc:sldMkLst>
      </pc:sldChg>
      <pc:sldChg chg="modSp mod">
        <pc:chgData name="Godio Claudio Jose" userId="7c42878b-9461-4551-9143-e7a67880e586" providerId="ADAL" clId="{F6246A8A-1EC0-4ADE-858F-3A429C9830FD}" dt="2022-03-30T14:20:00.440" v="279" actId="27636"/>
        <pc:sldMkLst>
          <pc:docMk/>
          <pc:sldMk cId="0" sldId="316"/>
        </pc:sldMkLst>
      </pc:sldChg>
      <pc:sldChg chg="modSp mod">
        <pc:chgData name="Godio Claudio Jose" userId="7c42878b-9461-4551-9143-e7a67880e586" providerId="ADAL" clId="{F6246A8A-1EC0-4ADE-858F-3A429C9830FD}" dt="2022-03-30T14:20:48.919" v="289" actId="207"/>
        <pc:sldMkLst>
          <pc:docMk/>
          <pc:sldMk cId="0" sldId="317"/>
        </pc:sldMkLst>
      </pc:sldChg>
      <pc:sldChg chg="modSp del mod">
        <pc:chgData name="Godio Claudio Jose" userId="7c42878b-9461-4551-9143-e7a67880e586" providerId="ADAL" clId="{F6246A8A-1EC0-4ADE-858F-3A429C9830FD}" dt="2022-03-30T14:32:33.212" v="417" actId="47"/>
        <pc:sldMkLst>
          <pc:docMk/>
          <pc:sldMk cId="0" sldId="318"/>
        </pc:sldMkLst>
      </pc:sldChg>
      <pc:sldChg chg="addSp delSp modSp mod">
        <pc:chgData name="Godio Claudio Jose" userId="7c42878b-9461-4551-9143-e7a67880e586" providerId="ADAL" clId="{F6246A8A-1EC0-4ADE-858F-3A429C9830FD}" dt="2022-03-30T14:05:49.258" v="39" actId="27636"/>
        <pc:sldMkLst>
          <pc:docMk/>
          <pc:sldMk cId="261918482" sldId="319"/>
        </pc:sldMkLst>
      </pc:sldChg>
      <pc:sldChg chg="addSp delSp modSp mod setBg setClrOvrMap">
        <pc:chgData name="Godio Claudio Jose" userId="7c42878b-9461-4551-9143-e7a67880e586" providerId="ADAL" clId="{F6246A8A-1EC0-4ADE-858F-3A429C9830FD}" dt="2022-03-30T14:08:27.791" v="93" actId="20577"/>
        <pc:sldMkLst>
          <pc:docMk/>
          <pc:sldMk cId="2880769420" sldId="320"/>
        </pc:sldMkLst>
      </pc:sldChg>
      <pc:sldChg chg="modSp mod">
        <pc:chgData name="Godio Claudio Jose" userId="7c42878b-9461-4551-9143-e7a67880e586" providerId="ADAL" clId="{F6246A8A-1EC0-4ADE-858F-3A429C9830FD}" dt="2022-03-30T14:08:52.979" v="97" actId="207"/>
        <pc:sldMkLst>
          <pc:docMk/>
          <pc:sldMk cId="2545435700" sldId="321"/>
        </pc:sldMkLst>
      </pc:sldChg>
      <pc:sldChg chg="modSp mod">
        <pc:chgData name="Godio Claudio Jose" userId="7c42878b-9461-4551-9143-e7a67880e586" providerId="ADAL" clId="{F6246A8A-1EC0-4ADE-858F-3A429C9830FD}" dt="2022-03-30T14:37:07.189" v="584" actId="1038"/>
        <pc:sldMkLst>
          <pc:docMk/>
          <pc:sldMk cId="1880148739" sldId="322"/>
        </pc:sldMkLst>
      </pc:sldChg>
      <pc:sldChg chg="modSp mod">
        <pc:chgData name="Godio Claudio Jose" userId="7c42878b-9461-4551-9143-e7a67880e586" providerId="ADAL" clId="{F6246A8A-1EC0-4ADE-858F-3A429C9830FD}" dt="2022-03-30T14:09:39.332" v="106" actId="6549"/>
        <pc:sldMkLst>
          <pc:docMk/>
          <pc:sldMk cId="1654370333" sldId="323"/>
        </pc:sldMkLst>
      </pc:sldChg>
      <pc:sldChg chg="modSp mod">
        <pc:chgData name="Godio Claudio Jose" userId="7c42878b-9461-4551-9143-e7a67880e586" providerId="ADAL" clId="{F6246A8A-1EC0-4ADE-858F-3A429C9830FD}" dt="2022-03-30T14:11:35.594" v="131" actId="122"/>
        <pc:sldMkLst>
          <pc:docMk/>
          <pc:sldMk cId="3862534253" sldId="324"/>
        </pc:sldMkLst>
      </pc:sldChg>
      <pc:sldChg chg="modSp del">
        <pc:chgData name="Godio Claudio Jose" userId="7c42878b-9461-4551-9143-e7a67880e586" providerId="ADAL" clId="{F6246A8A-1EC0-4ADE-858F-3A429C9830FD}" dt="2022-03-30T14:32:33.212" v="417" actId="47"/>
        <pc:sldMkLst>
          <pc:docMk/>
          <pc:sldMk cId="2927195920" sldId="325"/>
        </pc:sldMkLst>
      </pc:sldChg>
      <pc:sldChg chg="addSp delSp modSp new mod">
        <pc:chgData name="Godio Claudio Jose" userId="7c42878b-9461-4551-9143-e7a67880e586" providerId="ADAL" clId="{F6246A8A-1EC0-4ADE-858F-3A429C9830FD}" dt="2022-03-30T14:36:14.367" v="572" actId="1035"/>
        <pc:sldMkLst>
          <pc:docMk/>
          <pc:sldMk cId="4210194572" sldId="325"/>
        </pc:sldMkLst>
      </pc:sldChg>
    </pc:docChg>
  </pc:docChgLst>
  <pc:docChgLst>
    <pc:chgData name="TRIPODI LUCAS" userId="S::ltripodi@uade.edu.ar::38cc06d6-c8f1-41bc-a673-b35faba88e80" providerId="AD" clId="Web-{8F91DEB0-FD99-279B-394F-C73351EA74A9}"/>
    <pc:docChg chg="addSld delSld">
      <pc:chgData name="TRIPODI LUCAS" userId="S::ltripodi@uade.edu.ar::38cc06d6-c8f1-41bc-a673-b35faba88e80" providerId="AD" clId="Web-{8F91DEB0-FD99-279B-394F-C73351EA74A9}" dt="2025-08-21T22:24:26.846" v="5"/>
      <pc:docMkLst>
        <pc:docMk/>
      </pc:docMkLst>
      <pc:sldChg chg="new del">
        <pc:chgData name="TRIPODI LUCAS" userId="S::ltripodi@uade.edu.ar::38cc06d6-c8f1-41bc-a673-b35faba88e80" providerId="AD" clId="Web-{8F91DEB0-FD99-279B-394F-C73351EA74A9}" dt="2025-08-21T21:50:28.716" v="1"/>
        <pc:sldMkLst>
          <pc:docMk/>
          <pc:sldMk cId="913183450" sldId="326"/>
        </pc:sldMkLst>
      </pc:sldChg>
      <pc:sldChg chg="new del">
        <pc:chgData name="TRIPODI LUCAS" userId="S::ltripodi@uade.edu.ar::38cc06d6-c8f1-41bc-a673-b35faba88e80" providerId="AD" clId="Web-{8F91DEB0-FD99-279B-394F-C73351EA74A9}" dt="2025-08-21T22:11:48.214" v="3"/>
        <pc:sldMkLst>
          <pc:docMk/>
          <pc:sldMk cId="1273391698" sldId="326"/>
        </pc:sldMkLst>
      </pc:sldChg>
      <pc:sldChg chg="new del">
        <pc:chgData name="TRIPODI LUCAS" userId="S::ltripodi@uade.edu.ar::38cc06d6-c8f1-41bc-a673-b35faba88e80" providerId="AD" clId="Web-{8F91DEB0-FD99-279B-394F-C73351EA74A9}" dt="2025-08-21T22:24:26.846" v="5"/>
        <pc:sldMkLst>
          <pc:docMk/>
          <pc:sldMk cId="1744037612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C7BD6-4D28-4E87-8E0C-E1CADBDFC95B}" type="datetimeFigureOut">
              <a:rPr lang="es-AR" smtClean="0"/>
              <a:t>21/8/2025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9A9F-0DCB-4FE9-B696-685441E6799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353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/>
          </a:p>
        </p:txBody>
      </p:sp>
      <p:sp>
        <p:nvSpPr>
          <p:cNvPr id="553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5C5C1C-69EF-4C97-A002-81069F750E37}" type="slidenum">
              <a:rPr lang="es-AR" smtClean="0">
                <a:solidFill>
                  <a:prstClr val="black"/>
                </a:solidFill>
              </a:rPr>
              <a:pPr eaLnBrk="1" hangingPunct="1"/>
              <a:t>1</a:t>
            </a:fld>
            <a:endParaRPr lang="es-A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2DCB6D-820C-4C0F-83D4-DDE2A278F3E8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9169B-2BB4-43FF-87CC-2445551D038D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95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FDB846-E44C-43AA-A308-681ED4050EDA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EB145-D773-4B0D-A431-673E72F162C5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47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860A50-C31B-4D65-B881-FC7B34AD7A8E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7C6643-FB7A-424A-8B3D-439ABCE789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08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B6106C-5C84-42D1-A33B-500C964E7C5B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A1D643-1115-4288-9E4A-4EDA2DC1E4E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23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F285C2-30E5-4A6E-889F-7541D9FF13C5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7DCD46-9AE9-42C6-B179-18C0A1E065A9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61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CD8D4-3B84-4285-9955-838C8DBF0B66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E2D83E-0596-44EE-9526-7E93780D9207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76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4E12F6-C919-49B9-A972-A12258132827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4962DF-8492-4F3C-B18D-B7B76304358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56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902B6D-0EA6-4B73-B005-6E270EDFC217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22B8BC-B460-431C-8490-8199E6198B5C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79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AC060F-5627-40B0-982D-DB7C5324A536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697F1A-60A5-4A5A-A6A9-57688D1406C9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49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8816D7-D343-4EC2-ADD8-E5FFC1F6D5D0}" type="datetime1">
              <a:rPr lang="es-ES" smtClean="0"/>
              <a:t>21/08/2025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MX"/>
              <a:t>Lic. Claudio Godio - FAIN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E56C2A-EC2E-4A0E-BAEA-7AE735F667EE}" type="slidenum">
              <a:rPr lang="es-MX" smtClean="0"/>
              <a:pPr>
                <a:defRPr/>
              </a:pPr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992754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8816D7-D343-4EC2-ADD8-E5FFC1F6D5D0}" type="datetime1">
              <a:rPr lang="es-ES" smtClean="0"/>
              <a:t>21/08/2025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MX"/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E56C2A-EC2E-4A0E-BAEA-7AE735F667EE}" type="slidenum">
              <a:rPr lang="es-MX" smtClean="0"/>
              <a:pPr>
                <a:defRPr/>
              </a:pPr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315026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8816D7-D343-4EC2-ADD8-E5FFC1F6D5D0}" type="datetime1">
              <a:rPr lang="es-ES" smtClean="0"/>
              <a:t>21/08/2025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MX"/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E56C2A-EC2E-4A0E-BAEA-7AE735F667EE}" type="slidenum">
              <a:rPr lang="es-MX" smtClean="0"/>
              <a:pPr>
                <a:defRPr/>
              </a:pPr>
              <a:t>‹#›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24832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CD8D4-3B84-4285-9955-838C8DBF0B66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E2D83E-0596-44EE-9526-7E93780D9207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1378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8816D7-D343-4EC2-ADD8-E5FFC1F6D5D0}" type="datetime1">
              <a:rPr lang="es-ES" smtClean="0"/>
              <a:t>21/08/2025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MX"/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E56C2A-EC2E-4A0E-BAEA-7AE735F667EE}" type="slidenum">
              <a:rPr lang="es-MX" smtClean="0"/>
              <a:pPr>
                <a:defRPr/>
              </a:pPr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7767901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8816D7-D343-4EC2-ADD8-E5FFC1F6D5D0}" type="datetime1">
              <a:rPr lang="es-ES" smtClean="0"/>
              <a:t>21/08/2025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MX"/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E56C2A-EC2E-4A0E-BAEA-7AE735F667EE}" type="slidenum">
              <a:rPr lang="es-MX" smtClean="0"/>
              <a:pPr>
                <a:defRPr/>
              </a:pPr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255878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565C2-9C44-4CA9-88ED-34BCBB8A32DA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530CB8-7821-41C9-BFA9-B9B4FD291D5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901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84CE23-B39C-4F89-8822-BEAAD1395F59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21/08/2025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CB36F0-D28D-4B45-862A-1A9E19B0E6C6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86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fld id="{8F8816D7-D343-4EC2-ADD8-E5FFC1F6D5D0}" type="datetime1">
              <a:rPr lang="es-ES" smtClean="0"/>
              <a:t>21/08/2025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s-MX"/>
              <a:t>Lic. Claudio Godio - FAIN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E56C2A-EC2E-4A0E-BAEA-7AE735F667EE}" type="slidenum">
              <a:rPr lang="es-MX" smtClean="0"/>
              <a:pPr>
                <a:defRPr/>
              </a:pPr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5494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hd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33697" y="6041362"/>
            <a:ext cx="2554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442997" y="6041362"/>
            <a:ext cx="512504" cy="365125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spcAft>
                <a:spcPts val="600"/>
              </a:spcAft>
              <a:defRPr/>
            </a:pPr>
            <a:fld id="{2714B45C-AE8B-4215-9FC2-87399170EC60}" type="slidenum">
              <a:rPr lang="en-US" smtClean="0">
                <a:latin typeface="+mn-lt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latin typeface="+mn-lt"/>
            </a:endParaRPr>
          </a:p>
        </p:txBody>
      </p:sp>
      <p:sp>
        <p:nvSpPr>
          <p:cNvPr id="6" name="5 CuadroTexto">
            <a:extLst>
              <a:ext uri="{FF2B5EF4-FFF2-40B4-BE49-F238E27FC236}">
                <a16:creationId xmlns:a16="http://schemas.microsoft.com/office/drawing/2014/main" id="{0FFDB310-91F0-4BED-B56C-6892FEBF8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" y="5445224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AR" sz="2400" b="1">
                <a:solidFill>
                  <a:srgbClr val="000099"/>
                </a:solidFill>
              </a:rPr>
              <a:t>Clase III</a:t>
            </a: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EBEA2610-BBE7-4819-BF98-75C1E2B1F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02295"/>
            <a:ext cx="5328592" cy="453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2188C3-3F1D-4044-ABBA-7005BA75A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005FD1-8D49-460A-96C6-8AECA648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EB145-D773-4B0D-A431-673E72F162C5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3B3EA05-1E59-4753-BD2B-EB2BE882A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5736"/>
            <a:ext cx="9144001" cy="54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UML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0C5E15A-C95B-4ECB-9F4B-E4519D86DFDF}"/>
              </a:ext>
            </a:extLst>
          </p:cNvPr>
          <p:cNvSpPr/>
          <p:nvPr/>
        </p:nvSpPr>
        <p:spPr>
          <a:xfrm>
            <a:off x="853663" y="1421913"/>
            <a:ext cx="69127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Lenguaje gráfico para visualizar, especificar, construir y documentar un sistema. 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 más utilizado en la actualidad para sistemas de software.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Respaldado por el </a:t>
            </a:r>
            <a:r>
              <a:rPr lang="es-ES" sz="200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Object</a:t>
            </a: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Management </a:t>
            </a:r>
            <a:r>
              <a:rPr lang="es-ES" sz="200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Group</a:t>
            </a: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(OMG).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un "plano" del sistema,  incluyendo aspectos conceptuales y concretos.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Cuenta con varios tipos de diagramas, para diferentes aspectos de los estados representados.</a:t>
            </a:r>
          </a:p>
        </p:txBody>
      </p:sp>
    </p:spTree>
    <p:extLst>
      <p:ext uri="{BB962C8B-B14F-4D97-AF65-F5344CB8AC3E}">
        <p14:creationId xmlns:p14="http://schemas.microsoft.com/office/powerpoint/2010/main" val="2880769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938DF2-7ED8-47F4-98DD-CE4C2ABE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CD37AC-6712-4D24-9E75-3742A2BD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EB145-D773-4B0D-A431-673E72F162C5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257378-A1B2-4D4D-B097-E6B5977EA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257" y="0"/>
            <a:ext cx="9144001" cy="54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UML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6B514C9-FB13-4658-964C-473ABEC691A5}"/>
              </a:ext>
            </a:extLst>
          </p:cNvPr>
          <p:cNvSpPr/>
          <p:nvPr/>
        </p:nvSpPr>
        <p:spPr>
          <a:xfrm>
            <a:off x="413085" y="692048"/>
            <a:ext cx="753731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Existen dos tipos de diagramas: diagramas estructurales (estáticos) y diagramas de comportamiento (dinámicos).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Algunos representan diferentes aspectos de las mismas interacciones.</a:t>
            </a:r>
            <a:endParaRPr lang="en-US" sz="20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BFFF3BE-31B7-4674-9EB2-871E7C26E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173" y="2323264"/>
            <a:ext cx="9488511" cy="462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3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938DF2-7ED8-47F4-98DD-CE4C2ABE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CD37AC-6712-4D24-9E75-3742A2BD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EB145-D773-4B0D-A431-673E72F162C5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257378-A1B2-4D4D-B097-E6B5977EA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257" y="0"/>
            <a:ext cx="9144001" cy="54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UML – Diagrama de Secuencia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1C92BF-1FFB-421B-A90C-93BEE5E28ED2}"/>
              </a:ext>
            </a:extLst>
          </p:cNvPr>
          <p:cNvSpPr/>
          <p:nvPr/>
        </p:nvSpPr>
        <p:spPr>
          <a:xfrm>
            <a:off x="683568" y="1390965"/>
            <a:ext cx="731362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 un diagrama de </a:t>
            </a:r>
            <a:r>
              <a:rPr lang="es-ES" sz="2000" b="1" i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Interacción</a:t>
            </a: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s-ES" sz="20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Muestran cómo los objetos interactúan entre sí y el orden en que se producen esas interacciones. 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Las interacciones representadas son para un escenario en particular. 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Los diagramas de secuencia de UML forman parte de un modelo UML y solo existen dentro de los proyectos de modelado UML.</a:t>
            </a:r>
            <a:endParaRPr lang="en-US" sz="20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7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938DF2-7ED8-47F4-98DD-CE4C2ABE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CD37AC-6712-4D24-9E75-3742A2BD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EB145-D773-4B0D-A431-673E72F162C5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257378-A1B2-4D4D-B097-E6B5977EA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257" y="0"/>
            <a:ext cx="9144001" cy="54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UML – Diagrama de Clase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1C92BF-1FFB-421B-A90C-93BEE5E28ED2}"/>
              </a:ext>
            </a:extLst>
          </p:cNvPr>
          <p:cNvSpPr/>
          <p:nvPr/>
        </p:nvSpPr>
        <p:spPr>
          <a:xfrm>
            <a:off x="568100" y="1359159"/>
            <a:ext cx="7485934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 un diagrama </a:t>
            </a:r>
            <a:r>
              <a:rPr lang="es-ES" sz="2000" b="1" i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Estructural</a:t>
            </a:r>
            <a:endParaRPr lang="es-ES" sz="20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s-ES" sz="20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Diagrama UML más utilizado.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Bloque de construcción principal de cualquier solución orientada a objetos.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Muestra las clases en un sistema, atributos y operaciones de cada clase y la relación entre cada clase.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Las relaciones entre las clases se muestran por líneas con diferentes tipos de flechas.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MX" sz="2000">
                <a:latin typeface="Verdana" pitchFamily="34" charset="0"/>
                <a:ea typeface="Verdana" pitchFamily="34" charset="0"/>
                <a:cs typeface="Verdana" pitchFamily="34" charset="0"/>
              </a:rPr>
              <a:t>Es fuente de generación de código.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MX" sz="2000">
                <a:latin typeface="Verdana" pitchFamily="34" charset="0"/>
                <a:ea typeface="Verdana" pitchFamily="34" charset="0"/>
                <a:cs typeface="Verdana" pitchFamily="34" charset="0"/>
              </a:rPr>
              <a:t>Se usan para modelar un juego de conceptos o entidades.</a:t>
            </a:r>
            <a:endParaRPr lang="en-US" sz="20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14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79336"/>
            <a:ext cx="9108504" cy="596145"/>
          </a:xfrm>
        </p:spPr>
        <p:txBody>
          <a:bodyPr/>
          <a:lstStyle/>
          <a:p>
            <a:pPr algn="ctr" eaLnBrk="1" hangingPunct="1"/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Partes del diagrama de clases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43777" y="1628800"/>
            <a:ext cx="7559742" cy="4253719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s-MX" b="1" i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Atributos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: describe las características de una clase de objetos.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s-MX" b="1" i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Operaciones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: define el comportamiento de una clase de objetos (métodos)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s-MX" b="1" i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Estereotipos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: ayuda a entender un tipo de objeto en el contexto de otras clases de objetos con roles similares dentro del diseño del sistema.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s-MX" b="1" i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Asociación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: es un término formal para un tipo de relación.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s-MX" b="1" i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Herencia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: permite organizar las definiciones de la clase para simplificar y facilitar su implementación.</a:t>
            </a:r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2534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901068"/>
            <a:ext cx="7500766" cy="3055863"/>
          </a:xfrm>
        </p:spPr>
        <p:txBody>
          <a:bodyPr>
            <a:normAutofit/>
          </a:bodyPr>
          <a:lstStyle/>
          <a:p>
            <a:pPr algn="just" eaLnBrk="1" hangingPunct="1"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Son descripciones de características, se usan para modelar información asociada con una entidad</a:t>
            </a:r>
          </a:p>
          <a:p>
            <a:pPr algn="just" eaLnBrk="1" hangingPunct="1"/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 eaLnBrk="1" hangingPunct="1">
              <a:buNone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 algn="just" eaLnBrk="1" hangingPunct="1">
              <a:buFontTx/>
              <a:buNone/>
            </a:pPr>
            <a:endParaRPr lang="es-MX" sz="2000">
              <a:solidFill>
                <a:schemeClr val="accent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La multiplicidad es opcional e indica el número de atributos por instancia de la clase.</a:t>
            </a:r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7</a:t>
            </a:fld>
            <a:endParaRPr lang="es-MX"/>
          </a:p>
        </p:txBody>
      </p:sp>
      <p:sp>
        <p:nvSpPr>
          <p:cNvPr id="5123" name="Rectangle 2"/>
          <p:cNvSpPr txBox="1">
            <a:spLocks noChangeArrowheads="1"/>
          </p:cNvSpPr>
          <p:nvPr/>
        </p:nvSpPr>
        <p:spPr bwMode="auto">
          <a:xfrm>
            <a:off x="-1590" y="-19703"/>
            <a:ext cx="9144001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Atributos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7EF6CB-E129-48A5-9270-8F533C712A4F}"/>
              </a:ext>
            </a:extLst>
          </p:cNvPr>
          <p:cNvSpPr txBox="1"/>
          <p:nvPr/>
        </p:nvSpPr>
        <p:spPr>
          <a:xfrm>
            <a:off x="0" y="2957428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62" marR="0" lvl="1" indent="-285755" algn="l" defTabSz="45720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err="1">
                <a:ln>
                  <a:noFill/>
                </a:ln>
                <a:solidFill>
                  <a:srgbClr val="EA6312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Nombre_atributo</a:t>
            </a:r>
            <a:r>
              <a:rPr kumimoji="0" lang="es-MX" sz="2000" b="1" i="0" u="none" strike="noStrike" kern="1200" cap="none" spc="0" normalizeH="0" baseline="0" noProof="0">
                <a:ln>
                  <a:noFill/>
                </a:ln>
                <a:solidFill>
                  <a:srgbClr val="EA6312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[multiplicidad]:Tipo = </a:t>
            </a:r>
            <a:r>
              <a:rPr kumimoji="0" lang="es-MX" sz="2000" b="1" i="0" u="none" strike="noStrike" kern="1200" cap="none" spc="0" normalizeH="0" baseline="0" noProof="0" err="1">
                <a:ln>
                  <a:noFill/>
                </a:ln>
                <a:solidFill>
                  <a:srgbClr val="EA6312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Valor_inicial</a:t>
            </a:r>
            <a:endParaRPr kumimoji="0" lang="es-MX" sz="2000" b="1" i="0" u="none" strike="noStrike" kern="1200" cap="none" spc="0" normalizeH="0" baseline="0" noProof="0">
              <a:ln>
                <a:noFill/>
              </a:ln>
              <a:solidFill>
                <a:srgbClr val="EA6312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902613"/>
            <a:ext cx="7669932" cy="1223590"/>
          </a:xfrm>
        </p:spPr>
        <p:txBody>
          <a:bodyPr/>
          <a:lstStyle/>
          <a:p>
            <a:pPr marL="0" indent="0" algn="just" eaLnBrk="1" hangingPunct="1">
              <a:buClrTx/>
              <a:buNone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Son descripciones del comportamiento, se usan para modelar los servicios u operaciones asociados con una entidad, esto es, lo que una entidad puede hacer.</a:t>
            </a:r>
          </a:p>
          <a:p>
            <a:pPr marL="457207" lvl="1" indent="0">
              <a:buNone/>
            </a:pPr>
            <a:endParaRPr lang="es-MX" sz="240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7" lvl="1" indent="0">
              <a:buNone/>
            </a:pPr>
            <a:endParaRPr lang="es-MX" sz="220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s-MX"/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8</a:t>
            </a:fld>
            <a:endParaRPr lang="es-MX"/>
          </a:p>
        </p:txBody>
      </p:sp>
      <p:sp>
        <p:nvSpPr>
          <p:cNvPr id="6147" name="Rectangle 2"/>
          <p:cNvSpPr txBox="1">
            <a:spLocks noChangeArrowheads="1"/>
          </p:cNvSpPr>
          <p:nvPr/>
        </p:nvSpPr>
        <p:spPr bwMode="auto">
          <a:xfrm>
            <a:off x="-55055" y="295736"/>
            <a:ext cx="9144001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Operaciones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961964-A832-4607-8604-480668125BDC}"/>
              </a:ext>
            </a:extLst>
          </p:cNvPr>
          <p:cNvSpPr txBox="1"/>
          <p:nvPr/>
        </p:nvSpPr>
        <p:spPr>
          <a:xfrm>
            <a:off x="-94111" y="3810742"/>
            <a:ext cx="9250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000" b="1">
                <a:solidFill>
                  <a:schemeClr val="accent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identificador[</a:t>
            </a:r>
            <a:r>
              <a:rPr lang="es-MX" sz="2000" b="1" err="1">
                <a:solidFill>
                  <a:schemeClr val="accent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parámetro:tipo</a:t>
            </a:r>
            <a:r>
              <a:rPr lang="es-MX" sz="2000" b="1">
                <a:solidFill>
                  <a:schemeClr val="accent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] : retorno : tipo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1310"/>
            <a:ext cx="7956376" cy="736600"/>
          </a:xfrm>
        </p:spPr>
        <p:txBody>
          <a:bodyPr/>
          <a:lstStyle/>
          <a:p>
            <a:pPr algn="ctr" eaLnBrk="1" hangingPunct="1"/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Ejemplo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12763" y="1196975"/>
            <a:ext cx="8229600" cy="4929188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buFontTx/>
              <a:buNone/>
              <a:defRPr/>
            </a:pPr>
            <a:r>
              <a:rPr lang="es-MX" sz="2400">
                <a:latin typeface="Verdana" pitchFamily="34" charset="0"/>
                <a:ea typeface="Verdana" pitchFamily="34" charset="0"/>
                <a:cs typeface="Verdana" pitchFamily="34" charset="0"/>
              </a:rPr>
              <a:t>La siguiente figura muestra un vuelo de una aerolínea modelado como una clase UML. </a:t>
            </a:r>
          </a:p>
          <a:p>
            <a:pPr eaLnBrk="1" hangingPunct="1">
              <a:defRPr/>
            </a:pPr>
            <a:endParaRPr lang="es-MX" sz="2800"/>
          </a:p>
          <a:p>
            <a:pPr eaLnBrk="1" hangingPunct="1">
              <a:defRPr/>
            </a:pPr>
            <a:endParaRPr lang="es-MX"/>
          </a:p>
        </p:txBody>
      </p:sp>
      <p:sp>
        <p:nvSpPr>
          <p:cNvPr id="9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9</a:t>
            </a:fld>
            <a:endParaRPr lang="es-MX"/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214313" y="2938463"/>
            <a:ext cx="1795462" cy="258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s-MX" b="1">
                <a:latin typeface="Verdana" pitchFamily="34" charset="0"/>
                <a:ea typeface="Verdana" pitchFamily="34" charset="0"/>
                <a:cs typeface="Verdana" pitchFamily="34" charset="0"/>
              </a:rPr>
              <a:t>Nombre</a:t>
            </a:r>
          </a:p>
          <a:p>
            <a:pPr algn="r"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r"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r" eaLnBrk="1" hangingPunct="1"/>
            <a:r>
              <a:rPr lang="es-MX" b="1">
                <a:latin typeface="Verdana" pitchFamily="34" charset="0"/>
                <a:ea typeface="Verdana" pitchFamily="34" charset="0"/>
                <a:cs typeface="Verdana" pitchFamily="34" charset="0"/>
              </a:rPr>
              <a:t>Atributos</a:t>
            </a:r>
          </a:p>
          <a:p>
            <a:pPr algn="r"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r"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r"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r" eaLnBrk="1" hangingPunct="1"/>
            <a:r>
              <a:rPr lang="es-MX" b="1">
                <a:latin typeface="Verdana" pitchFamily="34" charset="0"/>
                <a:ea typeface="Verdana" pitchFamily="34" charset="0"/>
                <a:cs typeface="Verdana" pitchFamily="34" charset="0"/>
              </a:rPr>
              <a:t>Operaciones</a:t>
            </a:r>
          </a:p>
          <a:p>
            <a:pPr algn="r" eaLnBrk="1" hangingPunct="1"/>
            <a:endParaRPr lang="es-MX" b="1"/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5653088" y="3459163"/>
            <a:ext cx="3190875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b="1">
                <a:latin typeface="Verdana" pitchFamily="34" charset="0"/>
                <a:ea typeface="Verdana" pitchFamily="34" charset="0"/>
                <a:cs typeface="Verdana" pitchFamily="34" charset="0"/>
              </a:rPr>
              <a:t>Atributo: tipo de dato</a:t>
            </a:r>
          </a:p>
          <a:p>
            <a:pPr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eaLnBrk="1" hangingPunct="1"/>
            <a:endParaRPr lang="es-MX" b="1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eaLnBrk="1" hangingPunct="1"/>
            <a:r>
              <a:rPr lang="es-MX" b="1">
                <a:latin typeface="Verdana" pitchFamily="34" charset="0"/>
                <a:ea typeface="Verdana" pitchFamily="34" charset="0"/>
                <a:cs typeface="Verdana" pitchFamily="34" charset="0"/>
              </a:rPr>
              <a:t>Operación(parámetros:</a:t>
            </a:r>
          </a:p>
          <a:p>
            <a:pPr eaLnBrk="1" hangingPunct="1"/>
            <a:r>
              <a:rPr lang="es-MX" b="1">
                <a:latin typeface="Verdana" pitchFamily="34" charset="0"/>
                <a:ea typeface="Verdana" pitchFamily="34" charset="0"/>
                <a:cs typeface="Verdana" pitchFamily="34" charset="0"/>
              </a:rPr>
              <a:t>Tipo de dato):valor de</a:t>
            </a:r>
          </a:p>
          <a:p>
            <a:pPr eaLnBrk="1" hangingPunct="1"/>
            <a:r>
              <a:rPr lang="es-MX" b="1">
                <a:latin typeface="Verdana" pitchFamily="34" charset="0"/>
                <a:ea typeface="Verdana" pitchFamily="34" charset="0"/>
                <a:cs typeface="Verdana" pitchFamily="34" charset="0"/>
              </a:rPr>
              <a:t>retorno</a:t>
            </a:r>
          </a:p>
        </p:txBody>
      </p:sp>
      <p:pic>
        <p:nvPicPr>
          <p:cNvPr id="819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900" y="2817813"/>
            <a:ext cx="3532188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8639"/>
            <a:ext cx="9144000" cy="908050"/>
          </a:xfrm>
        </p:spPr>
        <p:txBody>
          <a:bodyPr/>
          <a:lstStyle/>
          <a:p>
            <a:pPr algn="ctr" eaLnBrk="1" hangingPunct="1"/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Modelando un atributo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369218"/>
            <a:ext cx="7359061" cy="4525963"/>
          </a:xfrm>
        </p:spPr>
        <p:txBody>
          <a:bodyPr>
            <a:normAutofit/>
          </a:bodyPr>
          <a:lstStyle/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 atributo describe una pieza de información que un objeto tiene o conoce de sí mismo. Para poder usar esta información se debe asignar un nombre y especificar el tipo de dato.</a:t>
            </a:r>
          </a:p>
          <a:p>
            <a:pPr algn="just">
              <a:buClrTx/>
              <a:buFont typeface="Wingdings" panose="05000000000000000000" pitchFamily="2" charset="2"/>
              <a:buChar char="Ø"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El tipo de dato puede ser primitivo o tipo de dato abstracto (definido)</a:t>
            </a:r>
          </a:p>
          <a:p>
            <a:pPr algn="just">
              <a:buClrTx/>
              <a:buFont typeface="Wingdings" panose="05000000000000000000" pitchFamily="2" charset="2"/>
              <a:buChar char="Ø"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Cada atributo puede tener reglas que limiten los valores asignados a éste.  Se puede usar un valor de default para protegerlo.</a:t>
            </a:r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10</a:t>
            </a:fld>
            <a:endParaRPr 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6525"/>
            <a:ext cx="9163050" cy="706437"/>
          </a:xfrm>
        </p:spPr>
        <p:txBody>
          <a:bodyPr/>
          <a:lstStyle/>
          <a:p>
            <a:pPr algn="ctr" eaLnBrk="1" hangingPunct="1"/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Visibilidad de un atributo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74085" y="871067"/>
            <a:ext cx="7606752" cy="5328591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La definición de un atributo debe especificar que otros objetos los pueden ver, a esto se lo denomina visibilidad: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  <a:defRPr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MX" err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Public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s-MX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+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) permite el acceso a objetos de las otras clases.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MX" err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Private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s-MX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) limita el acceso a la clase, solo operaciones de la clase tienen acceso.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MX" err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Protected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s-MX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#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) permite el acceso a subclases.  En el caso de generalización (herencia), las subclases deben tener acceso a los atributos y operaciones de la superclase, sino no pueden heredar.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MX" err="1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Package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s-MX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~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) permite el acceso a los otros objetos en el mismo paquete.</a:t>
            </a:r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11</a:t>
            </a:fld>
            <a:endParaRPr lang="es-MX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981"/>
            <a:ext cx="8395244" cy="633412"/>
          </a:xfrm>
        </p:spPr>
        <p:txBody>
          <a:bodyPr/>
          <a:lstStyle/>
          <a:p>
            <a:pPr algn="ctr" eaLnBrk="1" hangingPunct="1"/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Modelando una Operación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752990" y="1700808"/>
            <a:ext cx="7203386" cy="4186992"/>
          </a:xfrm>
        </p:spPr>
        <p:txBody>
          <a:bodyPr>
            <a:normAutofit/>
          </a:bodyPr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Los objetos tienen comportamientos, cosas que puedan hacer y que se les puedan dar a éstos.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Las operaciones requieren un nombre, argumentos y a veces un valor de retorno.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Las reglas de privacidad se aplican en la misma forma que para los atributos: Private, </a:t>
            </a:r>
            <a:r>
              <a:rPr lang="es-MX" err="1">
                <a:latin typeface="Verdana" pitchFamily="34" charset="0"/>
                <a:ea typeface="Verdana" pitchFamily="34" charset="0"/>
                <a:cs typeface="Verdana" pitchFamily="34" charset="0"/>
              </a:rPr>
              <a:t>Public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s-MX" err="1">
                <a:latin typeface="Verdana" pitchFamily="34" charset="0"/>
                <a:ea typeface="Verdana" pitchFamily="34" charset="0"/>
                <a:cs typeface="Verdana" pitchFamily="34" charset="0"/>
              </a:rPr>
              <a:t>Protected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y </a:t>
            </a:r>
            <a:r>
              <a:rPr lang="es-MX" err="1">
                <a:latin typeface="Verdana" pitchFamily="34" charset="0"/>
                <a:ea typeface="Verdana" pitchFamily="34" charset="0"/>
                <a:cs typeface="Verdana" pitchFamily="34" charset="0"/>
              </a:rPr>
              <a:t>Package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710645"/>
            <a:ext cx="7431069" cy="41453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El propósito de la asociación puede expresarse en un nombre, verbo o frase que describa como los objetos de un tipo (clase) se relacionan con objetos de otro tipo (clase). Por ejemplo:</a:t>
            </a:r>
          </a:p>
          <a:p>
            <a:pPr algn="just" eaLnBrk="1" hangingPunct="1">
              <a:lnSpc>
                <a:spcPct val="90000"/>
              </a:lnSpc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Una persona </a:t>
            </a:r>
            <a:r>
              <a:rPr lang="es-MX" b="1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tiene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un coche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Una persona </a:t>
            </a:r>
            <a:r>
              <a:rPr lang="es-MX" b="1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maneja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un coche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Multiplicidad: cuantos objetos van a participar en la relación</a:t>
            </a:r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13</a:t>
            </a:fld>
            <a:endParaRPr lang="es-MX"/>
          </a:p>
        </p:txBody>
      </p:sp>
      <p:sp>
        <p:nvSpPr>
          <p:cNvPr id="12291" name="Rectangle 2"/>
          <p:cNvSpPr txBox="1">
            <a:spLocks noChangeArrowheads="1"/>
          </p:cNvSpPr>
          <p:nvPr/>
        </p:nvSpPr>
        <p:spPr bwMode="auto">
          <a:xfrm>
            <a:off x="-6906" y="239655"/>
            <a:ext cx="9144000" cy="74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Asociaciones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683568" y="4405313"/>
            <a:ext cx="763284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Se  indica el rol y la multiplicidad.   </a:t>
            </a:r>
          </a:p>
          <a:p>
            <a:pPr lvl="2"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 micro está asociado con varios asientos.</a:t>
            </a:r>
          </a:p>
          <a:p>
            <a:pPr lvl="2"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Es bidireccional</a:t>
            </a:r>
          </a:p>
        </p:txBody>
      </p:sp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5724525" y="2708275"/>
            <a:ext cx="287338" cy="1444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AR"/>
          </a:p>
        </p:txBody>
      </p:sp>
      <p:pic>
        <p:nvPicPr>
          <p:cNvPr id="1331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577975"/>
            <a:ext cx="875030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7" name="Rectangle 2"/>
          <p:cNvSpPr txBox="1">
            <a:spLocks noChangeArrowheads="1"/>
          </p:cNvSpPr>
          <p:nvPr/>
        </p:nvSpPr>
        <p:spPr bwMode="auto">
          <a:xfrm>
            <a:off x="0" y="348774"/>
            <a:ext cx="9144000" cy="74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Asociaciones</a:t>
            </a:r>
          </a:p>
        </p:txBody>
      </p:sp>
      <p:sp>
        <p:nvSpPr>
          <p:cNvPr id="8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14</a:t>
            </a:fld>
            <a:endParaRPr lang="es-MX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-65722" y="370588"/>
            <a:ext cx="9182100" cy="561976"/>
          </a:xfrm>
        </p:spPr>
        <p:txBody>
          <a:bodyPr>
            <a:noAutofit/>
          </a:bodyPr>
          <a:lstStyle/>
          <a:p>
            <a:pPr algn="ctr" eaLnBrk="1" hangingPunct="1"/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Dirección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49624" y="1224896"/>
            <a:ext cx="7462736" cy="427714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s-ES">
                <a:latin typeface="Verdana" pitchFamily="34" charset="0"/>
                <a:ea typeface="Verdana" pitchFamily="34" charset="0"/>
                <a:cs typeface="Verdana" pitchFamily="34" charset="0"/>
              </a:rPr>
              <a:t>La dirección en las flechas de la asociación determina</a:t>
            </a: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en que dirección puede recorrerse una asociación en el momento de la ejecución.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Una asociación sin flechas significa que se puede ir de un objeto a otro y viceversa.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endParaRPr lang="es-MX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Por ejemplo, la siguiente el tipo de flecha en la asociación implica que desde el objeto Micro se puede recuperar (dirigir hacia) el objeto Asiento. </a:t>
            </a:r>
            <a:endParaRPr lang="es-MX"/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15</a:t>
            </a:fld>
            <a:endParaRPr lang="es-MX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295736"/>
            <a:ext cx="9182100" cy="561976"/>
          </a:xfrm>
        </p:spPr>
        <p:txBody>
          <a:bodyPr>
            <a:noAutofit/>
          </a:bodyPr>
          <a:lstStyle/>
          <a:p>
            <a:pPr algn="ctr" eaLnBrk="1" hangingPunct="1"/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Dirección (</a:t>
            </a:r>
            <a:r>
              <a:rPr lang="es-MX" sz="3200" b="1" kern="1200" err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s-MX" sz="3200" b="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…)</a:t>
            </a:r>
          </a:p>
        </p:txBody>
      </p:sp>
      <p:sp>
        <p:nvSpPr>
          <p:cNvPr id="15362" name="Rectangle 19"/>
          <p:cNvSpPr>
            <a:spLocks noGrp="1" noChangeArrowheads="1"/>
          </p:cNvSpPr>
          <p:nvPr>
            <p:ph idx="1"/>
          </p:nvPr>
        </p:nvSpPr>
        <p:spPr>
          <a:xfrm>
            <a:off x="971600" y="3885405"/>
            <a:ext cx="6984776" cy="1415803"/>
          </a:xfrm>
        </p:spPr>
        <p:txBody>
          <a:bodyPr>
            <a:normAutofit/>
          </a:bodyPr>
          <a:lstStyle/>
          <a:p>
            <a:pPr marL="0" indent="0" algn="just" eaLnBrk="1" hangingPunct="1">
              <a:buFontTx/>
              <a:buNone/>
            </a:pPr>
            <a:r>
              <a:rPr lang="es-MX">
                <a:latin typeface="Verdana" panose="020B0604030504040204" pitchFamily="34" charset="0"/>
                <a:ea typeface="Verdana" panose="020B0604030504040204" pitchFamily="34" charset="0"/>
              </a:rPr>
              <a:t>Supongamos que </a:t>
            </a:r>
            <a:r>
              <a:rPr lang="es-ES">
                <a:latin typeface="Verdana" panose="020B0604030504040204" pitchFamily="34" charset="0"/>
                <a:ea typeface="Verdana" panose="020B0604030504040204" pitchFamily="34" charset="0"/>
              </a:rPr>
              <a:t>los requerimientos para un sistema de venta de pasajes se necesiten saber</a:t>
            </a:r>
            <a:r>
              <a:rPr lang="es-MX">
                <a:latin typeface="Verdana" panose="020B0604030504040204" pitchFamily="34" charset="0"/>
                <a:ea typeface="Verdana" panose="020B0604030504040204" pitchFamily="34" charset="0"/>
              </a:rPr>
              <a:t> desde un micro cuales asientos están libres para ofrecer disponibilidad.</a:t>
            </a:r>
          </a:p>
        </p:txBody>
      </p:sp>
      <p:sp>
        <p:nvSpPr>
          <p:cNvPr id="7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16</a:t>
            </a:fld>
            <a:endParaRPr lang="es-MX"/>
          </a:p>
        </p:txBody>
      </p:sp>
      <p:pic>
        <p:nvPicPr>
          <p:cNvPr id="15364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1431925"/>
            <a:ext cx="7681913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536958"/>
            <a:ext cx="9182100" cy="561976"/>
          </a:xfrm>
        </p:spPr>
        <p:txBody>
          <a:bodyPr>
            <a:noAutofit/>
          </a:bodyPr>
          <a:lstStyle/>
          <a:p>
            <a:pPr algn="ctr" eaLnBrk="1" hangingPunct="1"/>
            <a:r>
              <a:rPr lang="es-MX" sz="3200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Clase de </a:t>
            </a:r>
            <a:r>
              <a:rPr lang="es-ES_tradnl" sz="3200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Asociación</a:t>
            </a:r>
            <a:endParaRPr lang="es-MX" sz="3200" b="1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873649"/>
            <a:ext cx="7863117" cy="3952291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s-MX" sz="2000">
                <a:latin typeface="Verdana" pitchFamily="34" charset="0"/>
                <a:ea typeface="Verdana" pitchFamily="34" charset="0"/>
                <a:cs typeface="Verdana" pitchFamily="34" charset="0"/>
              </a:rPr>
              <a:t>Cuando se modela </a:t>
            </a:r>
            <a:r>
              <a:rPr lang="es-MX" sz="2000">
                <a:latin typeface="Verdana" pitchFamily="34" charset="0"/>
                <a:ea typeface="Verdana" pitchFamily="34" charset="0"/>
              </a:rPr>
              <a:t>una</a:t>
            </a:r>
            <a:r>
              <a:rPr lang="es-MX" sz="2000">
                <a:latin typeface="Verdana" pitchFamily="34" charset="0"/>
                <a:ea typeface="Verdana" pitchFamily="34" charset="0"/>
                <a:cs typeface="Verdana" pitchFamily="34" charset="0"/>
              </a:rPr>
              <a:t> asociación entre clases, a veces es necesario incluir otra clase que contiene información valiosa acerca de la relación.</a:t>
            </a:r>
          </a:p>
          <a:p>
            <a:pPr algn="just" eaLnBrk="1" hangingPunct="1"/>
            <a:endParaRPr lang="es-MX" sz="200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eaLnBrk="1" hangingPunct="1"/>
            <a:r>
              <a:rPr lang="es-MX" sz="2000">
                <a:latin typeface="Verdana" pitchFamily="34" charset="0"/>
                <a:ea typeface="Verdana" pitchFamily="34" charset="0"/>
                <a:cs typeface="Verdana" pitchFamily="34" charset="0"/>
              </a:rPr>
              <a:t>Se representa como una clase normal solo que la línea que la une con la línea que conecta las asociaciones primarias es punteada.</a:t>
            </a:r>
          </a:p>
          <a:p>
            <a:pPr algn="just" eaLnBrk="1" hangingPunct="1"/>
            <a:endParaRPr lang="es-MX" sz="200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eaLnBrk="1" hangingPunct="1"/>
            <a:r>
              <a:rPr lang="es-MX" sz="2000">
                <a:latin typeface="Verdana" pitchFamily="34" charset="0"/>
                <a:ea typeface="Verdana" pitchFamily="34" charset="0"/>
                <a:cs typeface="Verdana" pitchFamily="34" charset="0"/>
              </a:rPr>
              <a:t>La siguiente figura muestra una clase asociación para carreras de autos.</a:t>
            </a:r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17</a:t>
            </a:fld>
            <a:endParaRPr lang="es-MX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05" y="940540"/>
            <a:ext cx="7469190" cy="3319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-19050" y="238534"/>
            <a:ext cx="9182100" cy="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Clase de </a:t>
            </a:r>
            <a:r>
              <a:rPr lang="es-ES_tradnl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Asociación</a:t>
            </a:r>
            <a:endParaRPr lang="es-MX" sz="32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539552" y="4137297"/>
            <a:ext cx="76499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  <a:defRPr/>
            </a:pPr>
            <a:r>
              <a:rPr lang="es-AR" sz="2000">
                <a:latin typeface="Verdana" pitchFamily="34" charset="0"/>
                <a:ea typeface="Verdana" pitchFamily="34" charset="0"/>
                <a:cs typeface="Verdana" pitchFamily="34" charset="0"/>
              </a:rPr>
              <a:t>La asociación entre la clase Circuito y Piloto es a través de la clase Posición.</a:t>
            </a:r>
          </a:p>
          <a:p>
            <a:pPr algn="just">
              <a:defRPr/>
            </a:pPr>
            <a:endParaRPr lang="es-AR" sz="200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42900" indent="-342900" algn="just">
              <a:buFont typeface="Wingdings" pitchFamily="2" charset="2"/>
              <a:buChar char="Ø"/>
              <a:defRPr/>
            </a:pPr>
            <a:r>
              <a:rPr lang="es-AR" sz="2000">
                <a:latin typeface="Verdana" pitchFamily="34" charset="0"/>
                <a:ea typeface="Verdana" pitchFamily="34" charset="0"/>
                <a:cs typeface="Verdana" pitchFamily="34" charset="0"/>
              </a:rPr>
              <a:t>Esto significa que debe haber una instancia en esta clase cuando alguna instancia de la clase Piloto se asocie con una instancia de la clase Circuito</a:t>
            </a:r>
          </a:p>
        </p:txBody>
      </p:sp>
      <p:sp>
        <p:nvSpPr>
          <p:cNvPr id="7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18</a:t>
            </a:fld>
            <a:endParaRPr lang="es-MX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309283" y="1063423"/>
            <a:ext cx="8085961" cy="221131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Una clase puede asociarse con sí misma. Una clase Empleado puede relacionarse con sí misma a través del rol gerente/dirige.</a:t>
            </a:r>
            <a:r>
              <a:rPr lang="es-ES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</a:p>
          <a:p>
            <a:pPr algn="just" eaLnBrk="1" hangingPunct="1"/>
            <a:r>
              <a:rPr lang="es-ES">
                <a:latin typeface="Verdana" pitchFamily="34" charset="0"/>
                <a:ea typeface="Verdana" pitchFamily="34" charset="0"/>
                <a:cs typeface="Verdana" pitchFamily="34" charset="0"/>
              </a:rPr>
              <a:t>No significa que una instancia está relacionada consigo misma, sino que una instancia de la clase está relacionada con otra instancia de la misma clase. </a:t>
            </a:r>
          </a:p>
        </p:txBody>
      </p:sp>
      <p:sp>
        <p:nvSpPr>
          <p:cNvPr id="7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19</a:t>
            </a:fld>
            <a:endParaRPr lang="es-MX"/>
          </a:p>
        </p:txBody>
      </p:sp>
      <p:sp>
        <p:nvSpPr>
          <p:cNvPr id="19459" name="Rectangle 2"/>
          <p:cNvSpPr txBox="1">
            <a:spLocks noChangeArrowheads="1"/>
          </p:cNvSpPr>
          <p:nvPr/>
        </p:nvSpPr>
        <p:spPr bwMode="auto">
          <a:xfrm>
            <a:off x="0" y="269997"/>
            <a:ext cx="9182100" cy="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Asociación Reflexiva</a:t>
            </a:r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745854"/>
            <a:ext cx="4401268" cy="361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345649" y="1266172"/>
            <a:ext cx="8428930" cy="4527550"/>
          </a:xfrm>
        </p:spPr>
        <p:txBody>
          <a:bodyPr>
            <a:normAutofit/>
          </a:bodyPr>
          <a:lstStyle/>
          <a:p>
            <a:pPr eaLnBrk="1" hangingPunct="1"/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Cada agregación es un tipo de asociación. </a:t>
            </a:r>
          </a:p>
          <a:p>
            <a:pPr eaLnBrk="1" hangingPunct="1"/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Cada composición es una forma de agregación.</a:t>
            </a:r>
          </a:p>
        </p:txBody>
      </p:sp>
      <p:sp>
        <p:nvSpPr>
          <p:cNvPr id="12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20</a:t>
            </a:fld>
            <a:endParaRPr lang="es-MX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1462088" y="2827338"/>
            <a:ext cx="6192837" cy="2741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s-AR"/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1870075" y="3344863"/>
            <a:ext cx="5400675" cy="17907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s-AR"/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2403475" y="3835400"/>
            <a:ext cx="4319588" cy="865188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AR"/>
          </a:p>
        </p:txBody>
      </p:sp>
      <p:sp>
        <p:nvSpPr>
          <p:cNvPr id="21510" name="Text Box 8"/>
          <p:cNvSpPr txBox="1">
            <a:spLocks noChangeArrowheads="1"/>
          </p:cNvSpPr>
          <p:nvPr/>
        </p:nvSpPr>
        <p:spPr bwMode="auto">
          <a:xfrm>
            <a:off x="1417638" y="2860675"/>
            <a:ext cx="140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b="1"/>
              <a:t>Asociación</a:t>
            </a:r>
          </a:p>
        </p:txBody>
      </p:sp>
      <p:sp>
        <p:nvSpPr>
          <p:cNvPr id="21511" name="Text Box 11"/>
          <p:cNvSpPr txBox="1">
            <a:spLocks noChangeArrowheads="1"/>
          </p:cNvSpPr>
          <p:nvPr/>
        </p:nvSpPr>
        <p:spPr bwMode="auto">
          <a:xfrm>
            <a:off x="1873250" y="33575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b="1"/>
              <a:t>Agregación</a:t>
            </a:r>
          </a:p>
        </p:txBody>
      </p:sp>
      <p:sp>
        <p:nvSpPr>
          <p:cNvPr id="21512" name="Text Box 12"/>
          <p:cNvSpPr txBox="1">
            <a:spLocks noChangeArrowheads="1"/>
          </p:cNvSpPr>
          <p:nvPr/>
        </p:nvSpPr>
        <p:spPr bwMode="auto">
          <a:xfrm>
            <a:off x="2416175" y="3844925"/>
            <a:ext cx="16462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MX" b="1"/>
              <a:t>Composición</a:t>
            </a:r>
          </a:p>
        </p:txBody>
      </p:sp>
      <p:sp>
        <p:nvSpPr>
          <p:cNvPr id="21513" name="Rectangle 2"/>
          <p:cNvSpPr txBox="1">
            <a:spLocks noChangeArrowheads="1"/>
          </p:cNvSpPr>
          <p:nvPr/>
        </p:nvSpPr>
        <p:spPr bwMode="auto">
          <a:xfrm>
            <a:off x="-38100" y="355554"/>
            <a:ext cx="9182100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Agregación y Composición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867473"/>
            <a:ext cx="7786410" cy="4392488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Es un tipo especial de asociación utilizado para modelar una relación  “Todo como la suma de las partes”.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Por ejemplo, Coche es una entidad “todo” y Llanta es una “parte” del Coche. 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Una asociación con una agregación indica que una clase es parte de otra clase.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En este tipo de asociación, la clase parte puede sobrevivir sin su clase todo.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En general las partes conforman una instancia del todo.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/>
            </a:pPr>
            <a:endParaRPr lang="es-MX" sz="1800"/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21</a:t>
            </a:fld>
            <a:endParaRPr lang="es-MX"/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-360830" y="422113"/>
            <a:ext cx="9182100" cy="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Agregación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4"/>
          <p:cNvSpPr>
            <a:spLocks noChangeShapeType="1"/>
          </p:cNvSpPr>
          <p:nvPr/>
        </p:nvSpPr>
        <p:spPr bwMode="auto">
          <a:xfrm>
            <a:off x="6084888" y="4635500"/>
            <a:ext cx="215900" cy="144463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3555" name="Line 5"/>
          <p:cNvSpPr>
            <a:spLocks noChangeShapeType="1"/>
          </p:cNvSpPr>
          <p:nvPr/>
        </p:nvSpPr>
        <p:spPr bwMode="auto">
          <a:xfrm flipH="1">
            <a:off x="6084888" y="4851400"/>
            <a:ext cx="142875" cy="73025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3648075"/>
            <a:ext cx="8550275" cy="197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7" name="2 CuadroTexto"/>
          <p:cNvSpPr txBox="1">
            <a:spLocks noChangeArrowheads="1"/>
          </p:cNvSpPr>
          <p:nvPr/>
        </p:nvSpPr>
        <p:spPr bwMode="auto">
          <a:xfrm>
            <a:off x="688590" y="1821964"/>
            <a:ext cx="7392247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s-AR" sz="2000">
                <a:latin typeface="Verdana" pitchFamily="34" charset="0"/>
                <a:ea typeface="Verdana" pitchFamily="34" charset="0"/>
                <a:cs typeface="Verdana" pitchFamily="34" charset="0"/>
              </a:rPr>
              <a:t>Para representar una relación de agregación, se dibuja una línea sólida de la clase </a:t>
            </a:r>
            <a:r>
              <a:rPr lang="es-AR" sz="2000" b="1" i="1">
                <a:solidFill>
                  <a:srgbClr val="FFC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todo</a:t>
            </a:r>
            <a:r>
              <a:rPr lang="es-AR" sz="2000">
                <a:latin typeface="Verdana" pitchFamily="34" charset="0"/>
                <a:ea typeface="Verdana" pitchFamily="34" charset="0"/>
                <a:cs typeface="Verdana" pitchFamily="34" charset="0"/>
              </a:rPr>
              <a:t> a la clase </a:t>
            </a:r>
            <a:r>
              <a:rPr lang="es-AR" sz="2000" b="1" i="1">
                <a:solidFill>
                  <a:srgbClr val="FFC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parte</a:t>
            </a:r>
            <a:r>
              <a:rPr lang="es-AR" sz="2000">
                <a:latin typeface="Verdana" pitchFamily="34" charset="0"/>
                <a:ea typeface="Verdana" pitchFamily="34" charset="0"/>
                <a:cs typeface="Verdana" pitchFamily="34" charset="0"/>
              </a:rPr>
              <a:t>, y con un diamante en el lado de la clase padre. 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es-AR" sz="2000">
                <a:latin typeface="Verdana" pitchFamily="34" charset="0"/>
                <a:ea typeface="Verdana" pitchFamily="34" charset="0"/>
                <a:cs typeface="Verdana" pitchFamily="34" charset="0"/>
              </a:rPr>
              <a:t>Una rueda puede existir sin automóvil</a:t>
            </a:r>
          </a:p>
        </p:txBody>
      </p:sp>
      <p:sp>
        <p:nvSpPr>
          <p:cNvPr id="23558" name="Rectangle 2"/>
          <p:cNvSpPr txBox="1">
            <a:spLocks noChangeArrowheads="1"/>
          </p:cNvSpPr>
          <p:nvPr/>
        </p:nvSpPr>
        <p:spPr bwMode="auto">
          <a:xfrm>
            <a:off x="-180528" y="384269"/>
            <a:ext cx="9182100" cy="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Agregación (</a:t>
            </a:r>
            <a:r>
              <a:rPr lang="es-MX" sz="3200" b="1" err="1"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…)</a:t>
            </a:r>
          </a:p>
        </p:txBody>
      </p:sp>
      <p:sp>
        <p:nvSpPr>
          <p:cNvPr id="9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22</a:t>
            </a:fld>
            <a:endParaRPr lang="es-MX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11235" y="1274287"/>
            <a:ext cx="7992889" cy="4626509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En este caso el ciclo de vida de una instancia de la clase parte está en función del ciclo de vida de una instancia de la clase todo.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A diferencia de la agregación básica, para representarla el diamante esta relleno.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Una instancia de la clase Empresa debe tener al menos una instancia en la clase Departamento.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s-MX">
                <a:latin typeface="Verdana" pitchFamily="34" charset="0"/>
                <a:ea typeface="Verdana" pitchFamily="34" charset="0"/>
                <a:cs typeface="Verdana" pitchFamily="34" charset="0"/>
              </a:rPr>
              <a:t>En este tipo de relaciones, si una la instancia Empresa se elimina, automáticamente la instancia de la clase Departamento también se elimina.</a:t>
            </a:r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defRPr/>
            </a:pPr>
            <a:endParaRPr lang="es-MX" sz="2400"/>
          </a:p>
        </p:txBody>
      </p:sp>
      <p:sp>
        <p:nvSpPr>
          <p:cNvPr id="6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23</a:t>
            </a:fld>
            <a:endParaRPr lang="es-MX"/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-19050" y="295736"/>
            <a:ext cx="9182100" cy="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Composición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CuadroTexto"/>
          <p:cNvSpPr txBox="1">
            <a:spLocks noChangeArrowheads="1"/>
          </p:cNvSpPr>
          <p:nvPr/>
        </p:nvSpPr>
        <p:spPr bwMode="auto">
          <a:xfrm>
            <a:off x="529143" y="1628800"/>
            <a:ext cx="76768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858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algn="just" ea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s-MX" sz="2000">
                <a:latin typeface="Verdana" pitchFamily="34" charset="0"/>
                <a:ea typeface="Verdana" pitchFamily="34" charset="0"/>
                <a:cs typeface="Verdana" pitchFamily="34" charset="0"/>
              </a:rPr>
              <a:t>Otra característica importante es que las partes solo puede relacionarse con una instancia del todo</a:t>
            </a:r>
          </a:p>
        </p:txBody>
      </p:sp>
      <p:sp>
        <p:nvSpPr>
          <p:cNvPr id="25603" name="Rectangle 2"/>
          <p:cNvSpPr txBox="1">
            <a:spLocks noChangeArrowheads="1"/>
          </p:cNvSpPr>
          <p:nvPr/>
        </p:nvSpPr>
        <p:spPr bwMode="auto">
          <a:xfrm>
            <a:off x="-108520" y="492569"/>
            <a:ext cx="9182100" cy="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Composición (</a:t>
            </a:r>
            <a:r>
              <a:rPr lang="es-MX" sz="3200" b="1" err="1"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s-MX" sz="3200" b="1">
                <a:latin typeface="Verdana" pitchFamily="34" charset="0"/>
                <a:ea typeface="Verdana" pitchFamily="34" charset="0"/>
                <a:cs typeface="Verdana" pitchFamily="34" charset="0"/>
              </a:rPr>
              <a:t>…)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3043238"/>
            <a:ext cx="81153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10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s-ES" b="1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Lic. Claudio Godio - FAIN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194A13-8DD5-4A49-90FC-41674783BD3A}" type="slidenum">
              <a:rPr lang="es-MX" smtClean="0"/>
              <a:pPr>
                <a:defRPr/>
              </a:pPr>
              <a:t>24</a:t>
            </a:fld>
            <a:endParaRPr lang="es-MX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1E57C0-713C-455E-AE41-1FC02F6F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Lic. Claudio Godio - FAIN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951645-A673-4610-9328-5046E38A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EB145-D773-4B0D-A431-673E72F162C5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Imagen 6" descr="Un dibujo de un animal con la boca abierta&#10;&#10;Descripción generada automáticamente con confianza baja">
            <a:extLst>
              <a:ext uri="{FF2B5EF4-FFF2-40B4-BE49-F238E27FC236}">
                <a16:creationId xmlns:a16="http://schemas.microsoft.com/office/drawing/2014/main" id="{51602021-F285-4C53-9945-28DEB78B0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700" y="1412776"/>
            <a:ext cx="5400600" cy="302433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2F561E1-663F-470A-BFA8-036B9C1919C7}"/>
              </a:ext>
            </a:extLst>
          </p:cNvPr>
          <p:cNvSpPr txBox="1"/>
          <p:nvPr/>
        </p:nvSpPr>
        <p:spPr>
          <a:xfrm>
            <a:off x="1972" y="440934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>
                <a:latin typeface="Verdana" panose="020B0604030504040204" pitchFamily="34" charset="0"/>
                <a:ea typeface="Verdana" panose="020B0604030504040204" pitchFamily="34" charset="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42101945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529ED485687F4FA5EC4B4139213020" ma:contentTypeVersion="7" ma:contentTypeDescription="Crear nuevo documento." ma:contentTypeScope="" ma:versionID="35f1b07eef5ed9fd10c9c746bce4018a">
  <xsd:schema xmlns:xsd="http://www.w3.org/2001/XMLSchema" xmlns:xs="http://www.w3.org/2001/XMLSchema" xmlns:p="http://schemas.microsoft.com/office/2006/metadata/properties" xmlns:ns2="785ba692-cf77-4161-a415-e78c0ee138c6" targetNamespace="http://schemas.microsoft.com/office/2006/metadata/properties" ma:root="true" ma:fieldsID="763587302d004238b9feaeee51789601" ns2:_="">
    <xsd:import namespace="785ba692-cf77-4161-a415-e78c0ee138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ba692-cf77-4161-a415-e78c0ee138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FC6B1A-43AD-46A4-BEC0-40A6B92116E0}">
  <ds:schemaRefs>
    <ds:schemaRef ds:uri="785ba692-cf77-4161-a415-e78c0ee138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3F340E-9688-4EBF-AFB5-8077B34DC8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86484F-5DB2-4DFB-B2C3-D398A8524F5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On-screen Show (4:3)</PresentationFormat>
  <Slides>25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Partes del diagrama de clases</vt:lpstr>
      <vt:lpstr>PowerPoint Presentation</vt:lpstr>
      <vt:lpstr>PowerPoint Presentation</vt:lpstr>
      <vt:lpstr>Ejemplo</vt:lpstr>
      <vt:lpstr>Modelando un atributo</vt:lpstr>
      <vt:lpstr>Visibilidad de un atributo</vt:lpstr>
      <vt:lpstr>Modelando una Operación</vt:lpstr>
      <vt:lpstr>PowerPoint Presentation</vt:lpstr>
      <vt:lpstr>PowerPoint Presentation</vt:lpstr>
      <vt:lpstr>Dirección</vt:lpstr>
      <vt:lpstr>Dirección (cont…)</vt:lpstr>
      <vt:lpstr>Clase de Asociación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Claudio Jose Godio</dc:creator>
  <cp:revision>1</cp:revision>
  <dcterms:created xsi:type="dcterms:W3CDTF">2020-03-17T22:47:59Z</dcterms:created>
  <dcterms:modified xsi:type="dcterms:W3CDTF">2025-08-21T22:24:28Z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0x010100C9529ED485687F4FA5EC4B4139213020</vt:lpwstr>
  </property>
</Properties>
</file>