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entation.xml" ContentType="application/vnd.openxmlformats-officedocument.presentationml.presentation.main+xml"/>
  <Override PartName="/ppt/slides/slide17.xml" ContentType="application/vnd.openxmlformats-officedocument.presentationml.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14.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9" r:id="rId1"/>
  </p:sldMasterIdLst>
  <p:notesMasterIdLst>
    <p:notesMasterId r:id="rId19"/>
  </p:notesMasterIdLst>
  <p:handoutMasterIdLst>
    <p:handoutMasterId r:id="rId20"/>
  </p:handoutMasterIdLst>
  <p:sldIdLst>
    <p:sldId id="256" r:id="rId2"/>
    <p:sldId id="304" r:id="rId3"/>
    <p:sldId id="305" r:id="rId4"/>
    <p:sldId id="321" r:id="rId5"/>
    <p:sldId id="307" r:id="rId6"/>
    <p:sldId id="308" r:id="rId7"/>
    <p:sldId id="306" r:id="rId8"/>
    <p:sldId id="312" r:id="rId9"/>
    <p:sldId id="317" r:id="rId10"/>
    <p:sldId id="325" r:id="rId11"/>
    <p:sldId id="320" r:id="rId12"/>
    <p:sldId id="323" r:id="rId13"/>
    <p:sldId id="324" r:id="rId14"/>
    <p:sldId id="314" r:id="rId15"/>
    <p:sldId id="326" r:id="rId16"/>
    <p:sldId id="309" r:id="rId17"/>
    <p:sldId id="32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99"/>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FA444E-95BC-9964-4F04-7FA711C9F3BF}" v="27" dt="2025-08-13T20:22:50.803"/>
  </p1510:revLst>
</p1510:revInfo>
</file>

<file path=ppt/tableStyles.xml><?xml version="1.0" encoding="utf-8"?>
<a:tblStyleLst xmlns:a="http://schemas.openxmlformats.org/drawingml/2006/main" def="{5C22544A-7EE6-4342-B048-85BDC9FD1C3A}">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34" autoAdjust="0"/>
    <p:restoredTop sz="98512" autoAdjust="0"/>
  </p:normalViewPr>
  <p:slideViewPr>
    <p:cSldViewPr showGuides="1">
      <p:cViewPr>
        <p:scale>
          <a:sx n="82" d="100"/>
          <a:sy n="82" d="100"/>
        </p:scale>
        <p:origin x="1258"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dio Claudio Jose" userId="S::cgodio@uade.edu.ar::7c42878b-9461-4551-9143-e7a67880e586" providerId="AD" clId="Web-{E8FA444E-95BC-9964-4F04-7FA711C9F3BF}"/>
    <pc:docChg chg="modSld">
      <pc:chgData name="Godio Claudio Jose" userId="S::cgodio@uade.edu.ar::7c42878b-9461-4551-9143-e7a67880e586" providerId="AD" clId="Web-{E8FA444E-95BC-9964-4F04-7FA711C9F3BF}" dt="2025-08-13T20:22:46.116" v="12"/>
      <pc:docMkLst>
        <pc:docMk/>
      </pc:docMkLst>
      <pc:sldChg chg="modSp">
        <pc:chgData name="Godio Claudio Jose" userId="S::cgodio@uade.edu.ar::7c42878b-9461-4551-9143-e7a67880e586" providerId="AD" clId="Web-{E8FA444E-95BC-9964-4F04-7FA711C9F3BF}" dt="2025-08-13T20:22:19.083" v="2" actId="20577"/>
        <pc:sldMkLst>
          <pc:docMk/>
          <pc:sldMk cId="0" sldId="304"/>
        </pc:sldMkLst>
        <pc:spChg chg="mod">
          <ac:chgData name="Godio Claudio Jose" userId="S::cgodio@uade.edu.ar::7c42878b-9461-4551-9143-e7a67880e586" providerId="AD" clId="Web-{E8FA444E-95BC-9964-4F04-7FA711C9F3BF}" dt="2025-08-13T20:22:19.083" v="2" actId="20577"/>
          <ac:spMkLst>
            <pc:docMk/>
            <pc:sldMk cId="0" sldId="304"/>
            <ac:spMk id="6148" creationId="{00000000-0000-0000-0000-000000000000}"/>
          </ac:spMkLst>
        </pc:spChg>
      </pc:sldChg>
      <pc:sldChg chg="modSp">
        <pc:chgData name="Godio Claudio Jose" userId="S::cgodio@uade.edu.ar::7c42878b-9461-4551-9143-e7a67880e586" providerId="AD" clId="Web-{E8FA444E-95BC-9964-4F04-7FA711C9F3BF}" dt="2025-08-13T20:22:35.975" v="8"/>
        <pc:sldMkLst>
          <pc:docMk/>
          <pc:sldMk cId="0" sldId="305"/>
        </pc:sldMkLst>
        <pc:spChg chg="mod">
          <ac:chgData name="Godio Claudio Jose" userId="S::cgodio@uade.edu.ar::7c42878b-9461-4551-9143-e7a67880e586" providerId="AD" clId="Web-{E8FA444E-95BC-9964-4F04-7FA711C9F3BF}" dt="2025-08-13T20:22:35.975" v="8"/>
          <ac:spMkLst>
            <pc:docMk/>
            <pc:sldMk cId="0" sldId="305"/>
            <ac:spMk id="7172" creationId="{00000000-0000-0000-0000-000000000000}"/>
          </ac:spMkLst>
        </pc:spChg>
      </pc:sldChg>
      <pc:sldChg chg="modSp">
        <pc:chgData name="Godio Claudio Jose" userId="S::cgodio@uade.edu.ar::7c42878b-9461-4551-9143-e7a67880e586" providerId="AD" clId="Web-{E8FA444E-95BC-9964-4F04-7FA711C9F3BF}" dt="2025-08-13T20:22:46.116" v="12"/>
        <pc:sldMkLst>
          <pc:docMk/>
          <pc:sldMk cId="1028872248" sldId="321"/>
        </pc:sldMkLst>
        <pc:spChg chg="mod">
          <ac:chgData name="Godio Claudio Jose" userId="S::cgodio@uade.edu.ar::7c42878b-9461-4551-9143-e7a67880e586" providerId="AD" clId="Web-{E8FA444E-95BC-9964-4F04-7FA711C9F3BF}" dt="2025-08-13T20:22:46.116" v="12"/>
          <ac:spMkLst>
            <pc:docMk/>
            <pc:sldMk cId="1028872248" sldId="321"/>
            <ac:spMk id="717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AR"/>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D9BDC834-CD5F-4499-A1BE-BBA4F2D5AF45}" type="datetimeFigureOut">
              <a:rPr lang="es-AR"/>
              <a:pPr>
                <a:defRPr/>
              </a:pPr>
              <a:t>13/8/2025</a:t>
            </a:fld>
            <a:endParaRPr lang="es-AR"/>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AR"/>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B049FCBF-BD23-4E92-9898-30FA32EA64C8}" type="slidenum">
              <a:rPr lang="es-AR"/>
              <a:pPr>
                <a:defRPr/>
              </a:pPr>
              <a:t>‹Nº›</a:t>
            </a:fld>
            <a:endParaRPr lang="es-AR"/>
          </a:p>
        </p:txBody>
      </p:sp>
    </p:spTree>
    <p:extLst>
      <p:ext uri="{BB962C8B-B14F-4D97-AF65-F5344CB8AC3E}">
        <p14:creationId xmlns:p14="http://schemas.microsoft.com/office/powerpoint/2010/main" val="2116036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7168E44A-01CD-49D2-A436-16C15448B659}" type="datetimeFigureOut">
              <a:rPr lang="es-AR"/>
              <a:pPr>
                <a:defRPr/>
              </a:pPr>
              <a:t>13/8/2025</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AR"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AR"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5DD9D0B6-09EC-4F26-BEB2-F900F50CF096}" type="slidenum">
              <a:rPr lang="es-AR"/>
              <a:pPr>
                <a:defRPr/>
              </a:pPr>
              <a:t>‹Nº›</a:t>
            </a:fld>
            <a:endParaRPr lang="es-AR"/>
          </a:p>
        </p:txBody>
      </p:sp>
    </p:spTree>
    <p:extLst>
      <p:ext uri="{BB962C8B-B14F-4D97-AF65-F5344CB8AC3E}">
        <p14:creationId xmlns:p14="http://schemas.microsoft.com/office/powerpoint/2010/main" val="7410475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es.wikipedia.org/wiki/Programaci%C3%B3n_estructurada" TargetMode="External"/><Relationship Id="rId3" Type="http://schemas.openxmlformats.org/officeDocument/2006/relationships/hyperlink" Target="http://es.wikipedia.org/wiki/M%C3%A9todo_(inform%C3%A1tica)" TargetMode="External"/><Relationship Id="rId7" Type="http://schemas.openxmlformats.org/officeDocument/2006/relationships/hyperlink" Target="http://es.wikipedia.org/wiki/Programador"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es.wikipedia.org/wiki/M%C3%A9todo_(programaci%C3%B3n_orientada_a_objetos)" TargetMode="External"/><Relationship Id="rId5" Type="http://schemas.openxmlformats.org/officeDocument/2006/relationships/hyperlink" Target="http://es.wikipedia.org/wiki/Constante_(programaci%C3%B3n)" TargetMode="External"/><Relationship Id="rId4" Type="http://schemas.openxmlformats.org/officeDocument/2006/relationships/hyperlink" Target="http://es.wikipedia.org/wiki/Variable_(programaci%C3%B3n)"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AR"/>
          </a:p>
        </p:txBody>
      </p:sp>
      <p:sp>
        <p:nvSpPr>
          <p:cNvPr id="5530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45C5C1C-69EF-4C97-A002-81069F750E37}" type="slidenum">
              <a:rPr lang="es-AR" smtClean="0"/>
              <a:pPr eaLnBrk="1" hangingPunct="1"/>
              <a:t>1</a:t>
            </a:fld>
            <a:endParaRPr lang="es-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eaLnBrk="1" hangingPunct="1">
              <a:spcBef>
                <a:spcPct val="0"/>
              </a:spcBef>
            </a:pPr>
            <a:r>
              <a:rPr lang="es-AR"/>
              <a:t>El estado está compuesto de uno o varios atributos a los que se habrán asignado unos valores concretos (datos).</a:t>
            </a:r>
          </a:p>
          <a:p>
            <a:pPr algn="just" eaLnBrk="1" hangingPunct="1">
              <a:spcBef>
                <a:spcPct val="0"/>
              </a:spcBef>
            </a:pPr>
            <a:r>
              <a:rPr lang="es-AR" b="1"/>
              <a:t>El comportamiento</a:t>
            </a:r>
            <a:r>
              <a:rPr lang="es-AR"/>
              <a:t> está definido por los </a:t>
            </a:r>
            <a:r>
              <a:rPr lang="es-AR">
                <a:hlinkClick r:id="rId3" tooltip="Método (informática)"/>
              </a:rPr>
              <a:t>métodos</a:t>
            </a:r>
            <a:r>
              <a:rPr lang="es-AR"/>
              <a:t> o mensajes a los que sabe responder dicho objeto, es decir, qué operaciones se pueden realizar con él.</a:t>
            </a:r>
          </a:p>
          <a:p>
            <a:pPr algn="just" eaLnBrk="1" hangingPunct="1">
              <a:spcBef>
                <a:spcPct val="0"/>
              </a:spcBef>
            </a:pPr>
            <a:r>
              <a:rPr lang="es-AR" b="1"/>
              <a:t>La identidad</a:t>
            </a:r>
            <a:r>
              <a:rPr lang="es-AR"/>
              <a:t> es una propiedad de un objeto que lo diferencia del resto, dicho con otras palabras, es su identificador (concepto análogo al de identificador de una </a:t>
            </a:r>
            <a:r>
              <a:rPr lang="es-AR">
                <a:hlinkClick r:id="rId4" tooltip="Variable (programación)"/>
              </a:rPr>
              <a:t>variable</a:t>
            </a:r>
            <a:r>
              <a:rPr lang="es-AR"/>
              <a:t> o una </a:t>
            </a:r>
            <a:r>
              <a:rPr lang="es-AR">
                <a:hlinkClick r:id="rId5" tooltip="Constante (programación)"/>
              </a:rPr>
              <a:t>constante</a:t>
            </a:r>
            <a:r>
              <a:rPr lang="es-AR"/>
              <a:t>).</a:t>
            </a:r>
          </a:p>
          <a:p>
            <a:pPr algn="just" eaLnBrk="1" hangingPunct="1">
              <a:spcBef>
                <a:spcPct val="0"/>
              </a:spcBef>
            </a:pPr>
            <a:r>
              <a:rPr lang="es-AR"/>
              <a:t>Un objeto contiene toda la información que permite definirlo e identificarlo frente a otros objetos pertenecientes a otras clases e incluso frente a objetos de una misma clase, al poder tener valores bien diferenciados en sus atributos. A su vez, los objetos disponen de mecanismos de interacción llamados </a:t>
            </a:r>
            <a:r>
              <a:rPr lang="es-AR">
                <a:hlinkClick r:id="rId6" tooltip="Método (programación orientada a objetos)"/>
              </a:rPr>
              <a:t>métodos</a:t>
            </a:r>
            <a:r>
              <a:rPr lang="es-AR"/>
              <a:t>, que favorecen la comunicación entre ellos. Esta comunicación favorece a su vez el cambio de estado en los propios objetos. Esta característica lleva a tratarlos como unidades indivisibles, en las que no se separa el estado y el comportamiento.</a:t>
            </a:r>
          </a:p>
          <a:p>
            <a:pPr algn="just" eaLnBrk="1" hangingPunct="1">
              <a:spcBef>
                <a:spcPct val="0"/>
              </a:spcBef>
            </a:pPr>
            <a:r>
              <a:rPr lang="es-AR"/>
              <a:t>Los </a:t>
            </a:r>
            <a:r>
              <a:rPr lang="es-AR" b="1"/>
              <a:t>métodos (comportamiento)</a:t>
            </a:r>
            <a:r>
              <a:rPr lang="es-AR"/>
              <a:t> y </a:t>
            </a:r>
            <a:r>
              <a:rPr lang="es-AR" b="1"/>
              <a:t>atributos (estado)</a:t>
            </a:r>
            <a:r>
              <a:rPr lang="es-AR"/>
              <a:t> están estrechamente relacionados por la propiedad de conjunto. Esta propiedad destaca que una clase requiere de métodos para poder tratar los atributos con los que cuenta. El </a:t>
            </a:r>
            <a:r>
              <a:rPr lang="es-AR">
                <a:hlinkClick r:id="rId7" tooltip="Programador"/>
              </a:rPr>
              <a:t>programador</a:t>
            </a:r>
            <a:r>
              <a:rPr lang="es-AR"/>
              <a:t> debe pensar indistintamente en ambos conceptos, sin separar ni darle mayor importancia a alguno de ellos. Hacerlo podría producir el hábito erróneo de crear clases contenedoras de información por un lado y clases con métodos que manejen a las primeras por el otro. De esta manera se estaría realizando </a:t>
            </a:r>
            <a:r>
              <a:rPr lang="es-AR" b="1"/>
              <a:t>una </a:t>
            </a:r>
            <a:r>
              <a:rPr lang="es-AR" b="1">
                <a:hlinkClick r:id="rId8" tooltip="Programación estructurada"/>
              </a:rPr>
              <a:t>programación estructurada</a:t>
            </a:r>
            <a:r>
              <a:rPr lang="es-AR" b="1"/>
              <a:t> camuflada</a:t>
            </a:r>
            <a:r>
              <a:rPr lang="es-AR"/>
              <a:t> en un lenguaje de programación orientado a objetos.</a:t>
            </a:r>
          </a:p>
          <a:p>
            <a:pPr algn="just" eaLnBrk="1" hangingPunct="1">
              <a:spcBef>
                <a:spcPct val="0"/>
              </a:spcBef>
            </a:pPr>
            <a:r>
              <a:rPr lang="es-AR"/>
              <a:t>La POO difiere de la </a:t>
            </a:r>
            <a:r>
              <a:rPr lang="es-AR">
                <a:hlinkClick r:id="rId8" tooltip="Programación estructurada"/>
              </a:rPr>
              <a:t>programación estructurada</a:t>
            </a:r>
            <a:r>
              <a:rPr lang="es-AR"/>
              <a:t> tradicional, en la que los datos y los procedimientos están separados y sin relación, ya que lo único que se busca es el procesamiento de unos datos de entrada para obtener otros de salida. La programación estructurada anima al programador a pensar sobre todo en términos de procedimientos o funciones, y en segundo lugar en las estructuras de datos que esos procedimientos manejan. En la programación estructurada solo se escriben funciones que procesan datos. Los programadores que emplean POO, en cambio, primero definen objetos para luego enviarles mensajes solicitándoles que realicen sus métodos por sí mismos.</a:t>
            </a:r>
          </a:p>
          <a:p>
            <a:pPr algn="just" eaLnBrk="1" hangingPunct="1">
              <a:spcBef>
                <a:spcPct val="0"/>
              </a:spcBef>
            </a:pPr>
            <a:endParaRPr lang="es-AR"/>
          </a:p>
        </p:txBody>
      </p:sp>
      <p:sp>
        <p:nvSpPr>
          <p:cNvPr id="5939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360EC785-D4A6-414E-8299-FA6A712081E4}" type="slidenum">
              <a:rPr lang="es-AR" smtClean="0"/>
              <a:pPr eaLnBrk="1" hangingPunct="1"/>
              <a:t>2</a:t>
            </a:fld>
            <a:endParaRPr lang="es-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6042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8F54490-D186-41E0-9AAC-4985F16E67E3}" type="slidenum">
              <a:rPr lang="es-AR" smtClean="0"/>
              <a:pPr eaLnBrk="1" hangingPunct="1"/>
              <a:t>3</a:t>
            </a:fld>
            <a:endParaRPr lang="es-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6042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8F54490-D186-41E0-9AAC-4985F16E67E3}" type="slidenum">
              <a:rPr lang="es-AR" smtClean="0"/>
              <a:pPr eaLnBrk="1" hangingPunct="1"/>
              <a:t>4</a:t>
            </a:fld>
            <a:endParaRPr lang="es-AR"/>
          </a:p>
        </p:txBody>
      </p:sp>
    </p:spTree>
    <p:extLst>
      <p:ext uri="{BB962C8B-B14F-4D97-AF65-F5344CB8AC3E}">
        <p14:creationId xmlns:p14="http://schemas.microsoft.com/office/powerpoint/2010/main" val="394313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s-AR"/>
              <a:t>En la programación Orientada a Objetos, los datos no son nuca accedidos si no se hace mediante los métodos correspondientes.</a:t>
            </a:r>
          </a:p>
        </p:txBody>
      </p:sp>
      <p:sp>
        <p:nvSpPr>
          <p:cNvPr id="62468"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AA88451-9E0A-4C16-A1DB-08E56D80A16E}" type="slidenum">
              <a:rPr lang="es-AR" smtClean="0"/>
              <a:pPr eaLnBrk="1" hangingPunct="1"/>
              <a:t>5</a:t>
            </a:fld>
            <a:endParaRPr lang="es-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63492"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7AE5D71-4CE7-4A59-A732-8D50FD5FBDA1}" type="slidenum">
              <a:rPr lang="es-AR" smtClean="0"/>
              <a:pPr eaLnBrk="1" hangingPunct="1"/>
              <a:t>6</a:t>
            </a:fld>
            <a:endParaRPr lang="es-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61444"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4114EF4-7057-456D-99C0-112EF29818A5}" type="slidenum">
              <a:rPr lang="es-AR" smtClean="0"/>
              <a:pPr eaLnBrk="1" hangingPunct="1"/>
              <a:t>7</a:t>
            </a:fld>
            <a:endParaRPr lang="es-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6451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FBF0503-FCA9-4B18-A54F-9BD1697458E6}" type="slidenum">
              <a:rPr lang="es-AR" smtClean="0"/>
              <a:pPr eaLnBrk="1" hangingPunct="1"/>
              <a:t>8</a:t>
            </a:fld>
            <a:endParaRPr lang="es-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6554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0FC8875-CC9E-4204-944F-92F0E76BE8C9}" type="slidenum">
              <a:rPr lang="es-AR" smtClean="0"/>
              <a:pPr eaLnBrk="1" hangingPunct="1"/>
              <a:t>9</a:t>
            </a:fld>
            <a:endParaRPr lang="es-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67588"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5787679-987C-452A-B349-38E8248D628B}" type="slidenum">
              <a:rPr lang="es-AR" smtClean="0"/>
              <a:pPr eaLnBrk="1" hangingPunct="1"/>
              <a:t>11</a:t>
            </a:fld>
            <a:endParaRPr lang="es-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DE28C-BE3A-C281-A359-B23AAA521B3B}"/>
            </a:ext>
          </a:extLst>
        </p:cNvPr>
        <p:cNvGrpSpPr/>
        <p:nvPr/>
      </p:nvGrpSpPr>
      <p:grpSpPr>
        <a:xfrm>
          <a:off x="0" y="0"/>
          <a:ext cx="0" cy="0"/>
          <a:chOff x="0" y="0"/>
          <a:chExt cx="0" cy="0"/>
        </a:xfrm>
      </p:grpSpPr>
      <p:sp>
        <p:nvSpPr>
          <p:cNvPr id="67586" name="1 Marcador de imagen de diapositiva">
            <a:extLst>
              <a:ext uri="{FF2B5EF4-FFF2-40B4-BE49-F238E27FC236}">
                <a16:creationId xmlns:a16="http://schemas.microsoft.com/office/drawing/2014/main" id="{1DF10A68-16C2-CC97-51FB-38356B44E5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2 Marcador de notas">
            <a:extLst>
              <a:ext uri="{FF2B5EF4-FFF2-40B4-BE49-F238E27FC236}">
                <a16:creationId xmlns:a16="http://schemas.microsoft.com/office/drawing/2014/main" id="{70B3C5B6-9634-8FA2-8EE9-34E7609CD4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67588" name="3 Marcador de número de diapositiva">
            <a:extLst>
              <a:ext uri="{FF2B5EF4-FFF2-40B4-BE49-F238E27FC236}">
                <a16:creationId xmlns:a16="http://schemas.microsoft.com/office/drawing/2014/main" id="{49BF76A4-3E2A-0255-30E5-04879C3FC2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5787679-987C-452A-B349-38E8248D628B}" type="slidenum">
              <a:rPr lang="es-AR" smtClean="0"/>
              <a:pPr eaLnBrk="1" hangingPunct="1"/>
              <a:t>12</a:t>
            </a:fld>
            <a:endParaRPr lang="es-AR"/>
          </a:p>
        </p:txBody>
      </p:sp>
    </p:spTree>
    <p:extLst>
      <p:ext uri="{BB962C8B-B14F-4D97-AF65-F5344CB8AC3E}">
        <p14:creationId xmlns:p14="http://schemas.microsoft.com/office/powerpoint/2010/main" val="3276672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7F847-D213-E6A9-8C5B-5CA0DCE9F6BC}"/>
            </a:ext>
          </a:extLst>
        </p:cNvPr>
        <p:cNvGrpSpPr/>
        <p:nvPr/>
      </p:nvGrpSpPr>
      <p:grpSpPr>
        <a:xfrm>
          <a:off x="0" y="0"/>
          <a:ext cx="0" cy="0"/>
          <a:chOff x="0" y="0"/>
          <a:chExt cx="0" cy="0"/>
        </a:xfrm>
      </p:grpSpPr>
      <p:sp>
        <p:nvSpPr>
          <p:cNvPr id="67586" name="1 Marcador de imagen de diapositiva">
            <a:extLst>
              <a:ext uri="{FF2B5EF4-FFF2-40B4-BE49-F238E27FC236}">
                <a16:creationId xmlns:a16="http://schemas.microsoft.com/office/drawing/2014/main" id="{6DCDB20D-38AA-ABA2-1C96-A9599217F0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2 Marcador de notas">
            <a:extLst>
              <a:ext uri="{FF2B5EF4-FFF2-40B4-BE49-F238E27FC236}">
                <a16:creationId xmlns:a16="http://schemas.microsoft.com/office/drawing/2014/main" id="{845CAC22-782E-DA23-B89C-8069BAA73C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67588" name="3 Marcador de número de diapositiva">
            <a:extLst>
              <a:ext uri="{FF2B5EF4-FFF2-40B4-BE49-F238E27FC236}">
                <a16:creationId xmlns:a16="http://schemas.microsoft.com/office/drawing/2014/main" id="{4D43BB71-3936-984F-E68B-C3AD1E652B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5787679-987C-452A-B349-38E8248D628B}" type="slidenum">
              <a:rPr lang="es-AR" smtClean="0"/>
              <a:pPr eaLnBrk="1" hangingPunct="1"/>
              <a:t>13</a:t>
            </a:fld>
            <a:endParaRPr lang="es-AR"/>
          </a:p>
        </p:txBody>
      </p:sp>
    </p:spTree>
    <p:extLst>
      <p:ext uri="{BB962C8B-B14F-4D97-AF65-F5344CB8AC3E}">
        <p14:creationId xmlns:p14="http://schemas.microsoft.com/office/powerpoint/2010/main" val="1084153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6963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7D17557-C6E6-42AA-A927-20F7687B847B}" type="slidenum">
              <a:rPr lang="es-AR" smtClean="0"/>
              <a:pPr eaLnBrk="1" hangingPunct="1"/>
              <a:t>14</a:t>
            </a:fld>
            <a:endParaRPr lang="es-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p>
        </p:txBody>
      </p:sp>
      <p:sp>
        <p:nvSpPr>
          <p:cNvPr id="7066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320A0B9-90FE-406D-B1F6-F887DCB6EA17}" type="slidenum">
              <a:rPr lang="es-AR" smtClean="0"/>
              <a:pPr eaLnBrk="1" hangingPunct="1"/>
              <a:t>16</a:t>
            </a:fld>
            <a:endParaRPr lang="es-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a:defRPr/>
            </a:pPr>
            <a:fld id="{96F925A5-0980-4A74-AAB6-455A119D8D60}" type="datetime1">
              <a:rPr lang="es-ES" smtClean="0"/>
              <a:pPr>
                <a:defRPr/>
              </a:pPr>
              <a:t>13/08/2025</a:t>
            </a:fld>
            <a:endParaRPr lang="es-ES"/>
          </a:p>
        </p:txBody>
      </p:sp>
      <p:sp>
        <p:nvSpPr>
          <p:cNvPr id="5" name="Footer Placeholder 4"/>
          <p:cNvSpPr>
            <a:spLocks noGrp="1"/>
          </p:cNvSpPr>
          <p:nvPr>
            <p:ph type="ftr" sz="quarter" idx="11"/>
          </p:nvPr>
        </p:nvSpPr>
        <p:spPr/>
        <p:txBody>
          <a:bodyPr/>
          <a:lstStyle/>
          <a:p>
            <a:pPr>
              <a:defRPr/>
            </a:pPr>
            <a:r>
              <a:rPr lang="es-ES"/>
              <a:t>Lic. Claudio Godio - FAIN</a:t>
            </a:r>
          </a:p>
        </p:txBody>
      </p:sp>
      <p:sp>
        <p:nvSpPr>
          <p:cNvPr id="6" name="Slide Number Placeholder 5"/>
          <p:cNvSpPr>
            <a:spLocks noGrp="1"/>
          </p:cNvSpPr>
          <p:nvPr>
            <p:ph type="sldNum" sz="quarter" idx="12"/>
          </p:nvPr>
        </p:nvSpPr>
        <p:spPr/>
        <p:txBody>
          <a:bodyPr/>
          <a:lstStyle/>
          <a:p>
            <a:pPr>
              <a:defRPr/>
            </a:pPr>
            <a:fld id="{CD89169B-2BB4-43FF-87CC-2445551D038D}" type="slidenum">
              <a:rPr lang="es-ES" smtClean="0"/>
              <a:pPr>
                <a:defRPr/>
              </a:pPr>
              <a:t>‹Nº›</a:t>
            </a:fld>
            <a:endParaRPr lang="es-ES"/>
          </a:p>
        </p:txBody>
      </p:sp>
    </p:spTree>
    <p:extLst>
      <p:ext uri="{BB962C8B-B14F-4D97-AF65-F5344CB8AC3E}">
        <p14:creationId xmlns:p14="http://schemas.microsoft.com/office/powerpoint/2010/main" val="250239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a:defRPr/>
            </a:pPr>
            <a:fld id="{31F6E5A1-8D09-4DDB-B9CF-18CCDFA6F936}" type="datetime1">
              <a:rPr lang="es-ES" smtClean="0"/>
              <a:pPr>
                <a:defRPr/>
              </a:pPr>
              <a:t>13/08/2025</a:t>
            </a:fld>
            <a:endParaRPr lang="es-ES"/>
          </a:p>
        </p:txBody>
      </p:sp>
      <p:sp>
        <p:nvSpPr>
          <p:cNvPr id="5" name="Footer Placeholder 4"/>
          <p:cNvSpPr>
            <a:spLocks noGrp="1"/>
          </p:cNvSpPr>
          <p:nvPr>
            <p:ph type="ftr" sz="quarter" idx="11"/>
          </p:nvPr>
        </p:nvSpPr>
        <p:spPr/>
        <p:txBody>
          <a:bodyPr/>
          <a:lstStyle/>
          <a:p>
            <a:pPr>
              <a:defRPr/>
            </a:pPr>
            <a:r>
              <a:rPr lang="es-ES"/>
              <a:t>Lic. Claudio Godio - FAIN</a:t>
            </a:r>
          </a:p>
        </p:txBody>
      </p:sp>
      <p:sp>
        <p:nvSpPr>
          <p:cNvPr id="6" name="Slide Number Placeholder 5"/>
          <p:cNvSpPr>
            <a:spLocks noGrp="1"/>
          </p:cNvSpPr>
          <p:nvPr>
            <p:ph type="sldNum" sz="quarter" idx="12"/>
          </p:nvPr>
        </p:nvSpPr>
        <p:spPr/>
        <p:txBody>
          <a:bodyPr/>
          <a:lstStyle/>
          <a:p>
            <a:pPr>
              <a:defRPr/>
            </a:pPr>
            <a:fld id="{EEBEB145-D773-4B0D-A431-673E72F162C5}" type="slidenum">
              <a:rPr lang="es-ES" smtClean="0"/>
              <a:pPr>
                <a:defRPr/>
              </a:pPr>
              <a:t>‹Nº›</a:t>
            </a:fld>
            <a:endParaRPr lang="es-ES"/>
          </a:p>
        </p:txBody>
      </p:sp>
    </p:spTree>
    <p:extLst>
      <p:ext uri="{BB962C8B-B14F-4D97-AF65-F5344CB8AC3E}">
        <p14:creationId xmlns:p14="http://schemas.microsoft.com/office/powerpoint/2010/main" val="3563900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a:defRPr/>
            </a:pPr>
            <a:fld id="{552B1A47-BCE8-4C04-8DE4-3541A85F178F}" type="datetime1">
              <a:rPr lang="es-ES" smtClean="0"/>
              <a:pPr>
                <a:defRPr/>
              </a:pPr>
              <a:t>13/08/2025</a:t>
            </a:fld>
            <a:endParaRPr lang="es-ES"/>
          </a:p>
        </p:txBody>
      </p:sp>
      <p:sp>
        <p:nvSpPr>
          <p:cNvPr id="5" name="Footer Placeholder 4"/>
          <p:cNvSpPr>
            <a:spLocks noGrp="1"/>
          </p:cNvSpPr>
          <p:nvPr>
            <p:ph type="ftr" sz="quarter" idx="11"/>
          </p:nvPr>
        </p:nvSpPr>
        <p:spPr/>
        <p:txBody>
          <a:bodyPr/>
          <a:lstStyle/>
          <a:p>
            <a:pPr>
              <a:defRPr/>
            </a:pPr>
            <a:r>
              <a:rPr lang="es-ES"/>
              <a:t>Lic. Claudio Godio - FAIN</a:t>
            </a:r>
          </a:p>
        </p:txBody>
      </p:sp>
      <p:sp>
        <p:nvSpPr>
          <p:cNvPr id="6" name="Slide Number Placeholder 5"/>
          <p:cNvSpPr>
            <a:spLocks noGrp="1"/>
          </p:cNvSpPr>
          <p:nvPr>
            <p:ph type="sldNum" sz="quarter" idx="12"/>
          </p:nvPr>
        </p:nvSpPr>
        <p:spPr/>
        <p:txBody>
          <a:bodyPr/>
          <a:lstStyle/>
          <a:p>
            <a:pPr>
              <a:defRPr/>
            </a:pPr>
            <a:fld id="{B17C6643-FB7A-424A-8B3D-439ABCE789EA}" type="slidenum">
              <a:rPr lang="es-ES" smtClean="0"/>
              <a:pPr>
                <a:defRPr/>
              </a:pPr>
              <a:t>‹Nº›</a:t>
            </a:fld>
            <a:endParaRPr lang="es-ES"/>
          </a:p>
        </p:txBody>
      </p:sp>
    </p:spTree>
    <p:extLst>
      <p:ext uri="{BB962C8B-B14F-4D97-AF65-F5344CB8AC3E}">
        <p14:creationId xmlns:p14="http://schemas.microsoft.com/office/powerpoint/2010/main" val="3696237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pPr>
              <a:defRPr/>
            </a:pPr>
            <a:fld id="{FFEA3818-6209-4521-AEF3-5F63E705243B}" type="datetime1">
              <a:rPr lang="es-ES" smtClean="0"/>
              <a:pPr>
                <a:defRPr/>
              </a:pPr>
              <a:t>13/08/2025</a:t>
            </a:fld>
            <a:endParaRPr lang="es-ES"/>
          </a:p>
        </p:txBody>
      </p:sp>
      <p:sp>
        <p:nvSpPr>
          <p:cNvPr id="6" name="Footer Placeholder 5"/>
          <p:cNvSpPr>
            <a:spLocks noGrp="1"/>
          </p:cNvSpPr>
          <p:nvPr>
            <p:ph type="ftr" sz="quarter" idx="11"/>
          </p:nvPr>
        </p:nvSpPr>
        <p:spPr/>
        <p:txBody>
          <a:bodyPr/>
          <a:lstStyle/>
          <a:p>
            <a:pPr>
              <a:defRPr/>
            </a:pPr>
            <a:r>
              <a:rPr lang="es-ES"/>
              <a:t>Lic. Claudio Godio - FAIN</a:t>
            </a:r>
          </a:p>
        </p:txBody>
      </p:sp>
      <p:sp>
        <p:nvSpPr>
          <p:cNvPr id="7" name="Slide Number Placeholder 6"/>
          <p:cNvSpPr>
            <a:spLocks noGrp="1"/>
          </p:cNvSpPr>
          <p:nvPr>
            <p:ph type="sldNum" sz="quarter" idx="12"/>
          </p:nvPr>
        </p:nvSpPr>
        <p:spPr/>
        <p:txBody>
          <a:bodyPr/>
          <a:lstStyle/>
          <a:p>
            <a:pPr>
              <a:defRPr/>
            </a:pPr>
            <a:fld id="{C1A1D643-1115-4288-9E4A-4EDA2DC1E4EB}" type="slidenum">
              <a:rPr lang="es-ES" smtClean="0"/>
              <a:pPr>
                <a:defRPr/>
              </a:pPr>
              <a:t>‹Nº›</a:t>
            </a:fld>
            <a:endParaRPr lang="es-ES"/>
          </a:p>
        </p:txBody>
      </p:sp>
    </p:spTree>
    <p:extLst>
      <p:ext uri="{BB962C8B-B14F-4D97-AF65-F5344CB8AC3E}">
        <p14:creationId xmlns:p14="http://schemas.microsoft.com/office/powerpoint/2010/main" val="2892745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pPr>
              <a:defRPr/>
            </a:pPr>
            <a:fld id="{0C53460D-CC8E-401E-9853-1AB1F2B10A31}" type="datetime1">
              <a:rPr lang="es-ES" smtClean="0"/>
              <a:pPr>
                <a:defRPr/>
              </a:pPr>
              <a:t>13/08/2025</a:t>
            </a:fld>
            <a:endParaRPr lang="es-ES"/>
          </a:p>
        </p:txBody>
      </p:sp>
      <p:sp>
        <p:nvSpPr>
          <p:cNvPr id="8" name="Footer Placeholder 7"/>
          <p:cNvSpPr>
            <a:spLocks noGrp="1"/>
          </p:cNvSpPr>
          <p:nvPr>
            <p:ph type="ftr" sz="quarter" idx="11"/>
          </p:nvPr>
        </p:nvSpPr>
        <p:spPr/>
        <p:txBody>
          <a:bodyPr/>
          <a:lstStyle/>
          <a:p>
            <a:pPr>
              <a:defRPr/>
            </a:pPr>
            <a:r>
              <a:rPr lang="es-ES"/>
              <a:t>Lic. Claudio Godio - FAIN</a:t>
            </a:r>
          </a:p>
        </p:txBody>
      </p:sp>
      <p:sp>
        <p:nvSpPr>
          <p:cNvPr id="9" name="Slide Number Placeholder 8"/>
          <p:cNvSpPr>
            <a:spLocks noGrp="1"/>
          </p:cNvSpPr>
          <p:nvPr>
            <p:ph type="sldNum" sz="quarter" idx="12"/>
          </p:nvPr>
        </p:nvSpPr>
        <p:spPr/>
        <p:txBody>
          <a:bodyPr/>
          <a:lstStyle/>
          <a:p>
            <a:pPr>
              <a:defRPr/>
            </a:pPr>
            <a:fld id="{EA7DCD46-9AE9-42C6-B179-18C0A1E065A9}" type="slidenum">
              <a:rPr lang="es-ES" smtClean="0"/>
              <a:pPr>
                <a:defRPr/>
              </a:pPr>
              <a:t>‹Nº›</a:t>
            </a:fld>
            <a:endParaRPr lang="es-ES"/>
          </a:p>
        </p:txBody>
      </p:sp>
    </p:spTree>
    <p:extLst>
      <p:ext uri="{BB962C8B-B14F-4D97-AF65-F5344CB8AC3E}">
        <p14:creationId xmlns:p14="http://schemas.microsoft.com/office/powerpoint/2010/main" val="1125576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pPr>
              <a:defRPr/>
            </a:pPr>
            <a:fld id="{2C0CF147-1091-4AD9-9C42-3D3212A3E056}" type="datetime1">
              <a:rPr lang="es-ES" smtClean="0"/>
              <a:pPr>
                <a:defRPr/>
              </a:pPr>
              <a:t>13/08/2025</a:t>
            </a:fld>
            <a:endParaRPr lang="es-ES"/>
          </a:p>
        </p:txBody>
      </p:sp>
      <p:sp>
        <p:nvSpPr>
          <p:cNvPr id="4" name="Footer Placeholder 3"/>
          <p:cNvSpPr>
            <a:spLocks noGrp="1"/>
          </p:cNvSpPr>
          <p:nvPr>
            <p:ph type="ftr" sz="quarter" idx="11"/>
          </p:nvPr>
        </p:nvSpPr>
        <p:spPr/>
        <p:txBody>
          <a:bodyPr/>
          <a:lstStyle/>
          <a:p>
            <a:pPr>
              <a:defRPr/>
            </a:pPr>
            <a:r>
              <a:rPr lang="es-ES"/>
              <a:t>Lic. Claudio Godio - FAIN</a:t>
            </a:r>
          </a:p>
        </p:txBody>
      </p:sp>
      <p:sp>
        <p:nvSpPr>
          <p:cNvPr id="5" name="Slide Number Placeholder 4"/>
          <p:cNvSpPr>
            <a:spLocks noGrp="1"/>
          </p:cNvSpPr>
          <p:nvPr>
            <p:ph type="sldNum" sz="quarter" idx="12"/>
          </p:nvPr>
        </p:nvSpPr>
        <p:spPr/>
        <p:txBody>
          <a:bodyPr/>
          <a:lstStyle/>
          <a:p>
            <a:pPr>
              <a:defRPr/>
            </a:pPr>
            <a:fld id="{60E2D83E-0596-44EE-9526-7E93780D9207}" type="slidenum">
              <a:rPr lang="es-ES" smtClean="0"/>
              <a:pPr>
                <a:defRPr/>
              </a:pPr>
              <a:t>‹Nº›</a:t>
            </a:fld>
            <a:endParaRPr lang="es-ES"/>
          </a:p>
        </p:txBody>
      </p:sp>
    </p:spTree>
    <p:extLst>
      <p:ext uri="{BB962C8B-B14F-4D97-AF65-F5344CB8AC3E}">
        <p14:creationId xmlns:p14="http://schemas.microsoft.com/office/powerpoint/2010/main" val="124102850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2B79AA5-F561-4A0A-B35D-AD881FA9BE88}" type="datetime1">
              <a:rPr lang="es-ES" smtClean="0"/>
              <a:pPr>
                <a:defRPr/>
              </a:pPr>
              <a:t>13/08/2025</a:t>
            </a:fld>
            <a:endParaRPr lang="es-ES"/>
          </a:p>
        </p:txBody>
      </p:sp>
      <p:sp>
        <p:nvSpPr>
          <p:cNvPr id="3" name="Footer Placeholder 2"/>
          <p:cNvSpPr>
            <a:spLocks noGrp="1"/>
          </p:cNvSpPr>
          <p:nvPr>
            <p:ph type="ftr" sz="quarter" idx="11"/>
          </p:nvPr>
        </p:nvSpPr>
        <p:spPr/>
        <p:txBody>
          <a:bodyPr/>
          <a:lstStyle/>
          <a:p>
            <a:pPr>
              <a:defRPr/>
            </a:pPr>
            <a:r>
              <a:rPr lang="es-ES"/>
              <a:t>Lic. Claudio Godio - FAIN</a:t>
            </a:r>
          </a:p>
        </p:txBody>
      </p:sp>
      <p:sp>
        <p:nvSpPr>
          <p:cNvPr id="4" name="Slide Number Placeholder 3"/>
          <p:cNvSpPr>
            <a:spLocks noGrp="1"/>
          </p:cNvSpPr>
          <p:nvPr>
            <p:ph type="sldNum" sz="quarter" idx="12"/>
          </p:nvPr>
        </p:nvSpPr>
        <p:spPr/>
        <p:txBody>
          <a:bodyPr/>
          <a:lstStyle/>
          <a:p>
            <a:pPr>
              <a:defRPr/>
            </a:pPr>
            <a:fld id="{664962DF-8492-4F3C-B18D-B7B763043582}" type="slidenum">
              <a:rPr lang="es-ES" smtClean="0"/>
              <a:pPr>
                <a:defRPr/>
              </a:pPr>
              <a:t>‹Nº›</a:t>
            </a:fld>
            <a:endParaRPr lang="es-ES"/>
          </a:p>
        </p:txBody>
      </p:sp>
    </p:spTree>
    <p:extLst>
      <p:ext uri="{BB962C8B-B14F-4D97-AF65-F5344CB8AC3E}">
        <p14:creationId xmlns:p14="http://schemas.microsoft.com/office/powerpoint/2010/main" val="107591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a:defRPr/>
            </a:pPr>
            <a:fld id="{51001004-B814-46D8-A861-F0E70EAC5BD5}" type="datetime1">
              <a:rPr lang="es-ES" smtClean="0"/>
              <a:pPr>
                <a:defRPr/>
              </a:pPr>
              <a:t>13/08/2025</a:t>
            </a:fld>
            <a:endParaRPr lang="es-ES"/>
          </a:p>
        </p:txBody>
      </p:sp>
      <p:sp>
        <p:nvSpPr>
          <p:cNvPr id="6" name="Footer Placeholder 5"/>
          <p:cNvSpPr>
            <a:spLocks noGrp="1"/>
          </p:cNvSpPr>
          <p:nvPr>
            <p:ph type="ftr" sz="quarter" idx="11"/>
          </p:nvPr>
        </p:nvSpPr>
        <p:spPr/>
        <p:txBody>
          <a:bodyPr/>
          <a:lstStyle/>
          <a:p>
            <a:pPr>
              <a:defRPr/>
            </a:pPr>
            <a:r>
              <a:rPr lang="es-ES"/>
              <a:t>Lic. Claudio Godio - FAIN</a:t>
            </a:r>
          </a:p>
        </p:txBody>
      </p:sp>
      <p:sp>
        <p:nvSpPr>
          <p:cNvPr id="7" name="Slide Number Placeholder 6"/>
          <p:cNvSpPr>
            <a:spLocks noGrp="1"/>
          </p:cNvSpPr>
          <p:nvPr>
            <p:ph type="sldNum" sz="quarter" idx="12"/>
          </p:nvPr>
        </p:nvSpPr>
        <p:spPr/>
        <p:txBody>
          <a:bodyPr/>
          <a:lstStyle/>
          <a:p>
            <a:pPr>
              <a:defRPr/>
            </a:pPr>
            <a:fld id="{E822B8BC-B460-431C-8490-8199E6198B5C}" type="slidenum">
              <a:rPr lang="es-ES" smtClean="0"/>
              <a:pPr>
                <a:defRPr/>
              </a:pPr>
              <a:t>‹Nº›</a:t>
            </a:fld>
            <a:endParaRPr lang="es-ES"/>
          </a:p>
        </p:txBody>
      </p:sp>
    </p:spTree>
    <p:extLst>
      <p:ext uri="{BB962C8B-B14F-4D97-AF65-F5344CB8AC3E}">
        <p14:creationId xmlns:p14="http://schemas.microsoft.com/office/powerpoint/2010/main" val="4160116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a:defRPr/>
            </a:pPr>
            <a:fld id="{2C0CF147-1091-4AD9-9C42-3D3212A3E056}" type="datetime1">
              <a:rPr lang="es-ES" smtClean="0"/>
              <a:pPr>
                <a:defRPr/>
              </a:pPr>
              <a:t>13/08/2025</a:t>
            </a:fld>
            <a:endParaRPr lang="es-ES"/>
          </a:p>
        </p:txBody>
      </p:sp>
      <p:sp>
        <p:nvSpPr>
          <p:cNvPr id="6" name="Footer Placeholder 5"/>
          <p:cNvSpPr>
            <a:spLocks noGrp="1"/>
          </p:cNvSpPr>
          <p:nvPr>
            <p:ph type="ftr" sz="quarter" idx="11"/>
          </p:nvPr>
        </p:nvSpPr>
        <p:spPr/>
        <p:txBody>
          <a:bodyPr/>
          <a:lstStyle/>
          <a:p>
            <a:pPr>
              <a:defRPr/>
            </a:pPr>
            <a:r>
              <a:rPr lang="es-ES"/>
              <a:t>Lic. Claudio Godio - FAIN</a:t>
            </a:r>
          </a:p>
        </p:txBody>
      </p:sp>
      <p:sp>
        <p:nvSpPr>
          <p:cNvPr id="7" name="Slide Number Placeholder 6"/>
          <p:cNvSpPr>
            <a:spLocks noGrp="1"/>
          </p:cNvSpPr>
          <p:nvPr>
            <p:ph type="sldNum" sz="quarter" idx="12"/>
          </p:nvPr>
        </p:nvSpPr>
        <p:spPr/>
        <p:txBody>
          <a:bodyPr/>
          <a:lstStyle/>
          <a:p>
            <a:pPr>
              <a:defRPr/>
            </a:pPr>
            <a:fld id="{60E2D83E-0596-44EE-9526-7E93780D9207}" type="slidenum">
              <a:rPr lang="es-ES" smtClean="0"/>
              <a:pPr>
                <a:defRPr/>
              </a:pPr>
              <a:t>‹Nº›</a:t>
            </a:fld>
            <a:endParaRPr lang="es-ES"/>
          </a:p>
        </p:txBody>
      </p:sp>
    </p:spTree>
    <p:extLst>
      <p:ext uri="{BB962C8B-B14F-4D97-AF65-F5344CB8AC3E}">
        <p14:creationId xmlns:p14="http://schemas.microsoft.com/office/powerpoint/2010/main" val="283450325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a:defRPr/>
            </a:pPr>
            <a:fld id="{2C0CF147-1091-4AD9-9C42-3D3212A3E056}" type="datetime1">
              <a:rPr lang="es-ES" smtClean="0"/>
              <a:pPr>
                <a:defRPr/>
              </a:pPr>
              <a:t>13/08/2025</a:t>
            </a:fld>
            <a:endParaRPr lang="es-ES"/>
          </a:p>
        </p:txBody>
      </p:sp>
      <p:sp>
        <p:nvSpPr>
          <p:cNvPr id="5" name="Footer Placeholder 4"/>
          <p:cNvSpPr>
            <a:spLocks noGrp="1"/>
          </p:cNvSpPr>
          <p:nvPr>
            <p:ph type="ftr" sz="quarter" idx="11"/>
          </p:nvPr>
        </p:nvSpPr>
        <p:spPr/>
        <p:txBody>
          <a:bodyPr/>
          <a:lstStyle/>
          <a:p>
            <a:pPr>
              <a:defRPr/>
            </a:pPr>
            <a:r>
              <a:rPr lang="es-ES"/>
              <a:t>Lic. Claudio Godio - FAIN</a:t>
            </a:r>
          </a:p>
        </p:txBody>
      </p:sp>
      <p:sp>
        <p:nvSpPr>
          <p:cNvPr id="6" name="Slide Number Placeholder 5"/>
          <p:cNvSpPr>
            <a:spLocks noGrp="1"/>
          </p:cNvSpPr>
          <p:nvPr>
            <p:ph type="sldNum" sz="quarter" idx="12"/>
          </p:nvPr>
        </p:nvSpPr>
        <p:spPr/>
        <p:txBody>
          <a:bodyPr/>
          <a:lstStyle/>
          <a:p>
            <a:pPr>
              <a:defRPr/>
            </a:pPr>
            <a:fld id="{60E2D83E-0596-44EE-9526-7E93780D9207}" type="slidenum">
              <a:rPr lang="es-ES" smtClean="0"/>
              <a:pPr>
                <a:defRPr/>
              </a:pPr>
              <a:t>‹Nº›</a:t>
            </a:fld>
            <a:endParaRPr lang="es-ES"/>
          </a:p>
        </p:txBody>
      </p:sp>
    </p:spTree>
    <p:extLst>
      <p:ext uri="{BB962C8B-B14F-4D97-AF65-F5344CB8AC3E}">
        <p14:creationId xmlns:p14="http://schemas.microsoft.com/office/powerpoint/2010/main" val="3528286509"/>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a:defRPr/>
            </a:pPr>
            <a:fld id="{2C0CF147-1091-4AD9-9C42-3D3212A3E056}" type="datetime1">
              <a:rPr lang="es-ES" smtClean="0"/>
              <a:pPr>
                <a:defRPr/>
              </a:pPr>
              <a:t>13/08/2025</a:t>
            </a:fld>
            <a:endParaRPr lang="es-ES"/>
          </a:p>
        </p:txBody>
      </p:sp>
      <p:sp>
        <p:nvSpPr>
          <p:cNvPr id="5" name="Footer Placeholder 4"/>
          <p:cNvSpPr>
            <a:spLocks noGrp="1"/>
          </p:cNvSpPr>
          <p:nvPr>
            <p:ph type="ftr" sz="quarter" idx="11"/>
          </p:nvPr>
        </p:nvSpPr>
        <p:spPr/>
        <p:txBody>
          <a:bodyPr/>
          <a:lstStyle/>
          <a:p>
            <a:pPr>
              <a:defRPr/>
            </a:pPr>
            <a:r>
              <a:rPr lang="es-ES"/>
              <a:t>Lic. Claudio Godio - FAIN</a:t>
            </a:r>
          </a:p>
        </p:txBody>
      </p:sp>
      <p:sp>
        <p:nvSpPr>
          <p:cNvPr id="6" name="Slide Number Placeholder 5"/>
          <p:cNvSpPr>
            <a:spLocks noGrp="1"/>
          </p:cNvSpPr>
          <p:nvPr>
            <p:ph type="sldNum" sz="quarter" idx="12"/>
          </p:nvPr>
        </p:nvSpPr>
        <p:spPr/>
        <p:txBody>
          <a:bodyPr/>
          <a:lstStyle/>
          <a:p>
            <a:pPr>
              <a:defRPr/>
            </a:pPr>
            <a:fld id="{60E2D83E-0596-44EE-9526-7E93780D9207}" type="slidenum">
              <a:rPr lang="es-ES" smtClean="0"/>
              <a:pPr>
                <a:defRPr/>
              </a:pPr>
              <a:t>‹Nº›</a:t>
            </a:fld>
            <a:endParaRPr lang="es-E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5548397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a:defRPr/>
            </a:pPr>
            <a:fld id="{2C0CF147-1091-4AD9-9C42-3D3212A3E056}" type="datetime1">
              <a:rPr lang="es-ES" smtClean="0"/>
              <a:pPr>
                <a:defRPr/>
              </a:pPr>
              <a:t>13/08/2025</a:t>
            </a:fld>
            <a:endParaRPr lang="es-ES"/>
          </a:p>
        </p:txBody>
      </p:sp>
      <p:sp>
        <p:nvSpPr>
          <p:cNvPr id="5" name="Footer Placeholder 4"/>
          <p:cNvSpPr>
            <a:spLocks noGrp="1"/>
          </p:cNvSpPr>
          <p:nvPr>
            <p:ph type="ftr" sz="quarter" idx="11"/>
          </p:nvPr>
        </p:nvSpPr>
        <p:spPr/>
        <p:txBody>
          <a:bodyPr/>
          <a:lstStyle/>
          <a:p>
            <a:pPr>
              <a:defRPr/>
            </a:pPr>
            <a:r>
              <a:rPr lang="es-ES"/>
              <a:t>Lic. Claudio Godio - FAIN</a:t>
            </a:r>
          </a:p>
        </p:txBody>
      </p:sp>
      <p:sp>
        <p:nvSpPr>
          <p:cNvPr id="6" name="Slide Number Placeholder 5"/>
          <p:cNvSpPr>
            <a:spLocks noGrp="1"/>
          </p:cNvSpPr>
          <p:nvPr>
            <p:ph type="sldNum" sz="quarter" idx="12"/>
          </p:nvPr>
        </p:nvSpPr>
        <p:spPr/>
        <p:txBody>
          <a:bodyPr/>
          <a:lstStyle/>
          <a:p>
            <a:pPr>
              <a:defRPr/>
            </a:pPr>
            <a:fld id="{60E2D83E-0596-44EE-9526-7E93780D9207}" type="slidenum">
              <a:rPr lang="es-ES" smtClean="0"/>
              <a:pPr>
                <a:defRPr/>
              </a:pPr>
              <a:t>‹Nº›</a:t>
            </a:fld>
            <a:endParaRPr lang="es-ES"/>
          </a:p>
        </p:txBody>
      </p:sp>
    </p:spTree>
    <p:extLst>
      <p:ext uri="{BB962C8B-B14F-4D97-AF65-F5344CB8AC3E}">
        <p14:creationId xmlns:p14="http://schemas.microsoft.com/office/powerpoint/2010/main" val="3784524748"/>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a:defRPr/>
            </a:pPr>
            <a:fld id="{2C0CF147-1091-4AD9-9C42-3D3212A3E056}" type="datetime1">
              <a:rPr lang="es-ES" smtClean="0"/>
              <a:pPr>
                <a:defRPr/>
              </a:pPr>
              <a:t>13/08/2025</a:t>
            </a:fld>
            <a:endParaRPr lang="es-ES"/>
          </a:p>
        </p:txBody>
      </p:sp>
      <p:sp>
        <p:nvSpPr>
          <p:cNvPr id="5" name="Footer Placeholder 4"/>
          <p:cNvSpPr>
            <a:spLocks noGrp="1"/>
          </p:cNvSpPr>
          <p:nvPr>
            <p:ph type="ftr" sz="quarter" idx="11"/>
          </p:nvPr>
        </p:nvSpPr>
        <p:spPr/>
        <p:txBody>
          <a:bodyPr/>
          <a:lstStyle/>
          <a:p>
            <a:pPr>
              <a:defRPr/>
            </a:pPr>
            <a:r>
              <a:rPr lang="es-ES"/>
              <a:t>Lic. Claudio Godio - FAIN</a:t>
            </a:r>
          </a:p>
        </p:txBody>
      </p:sp>
      <p:sp>
        <p:nvSpPr>
          <p:cNvPr id="6" name="Slide Number Placeholder 5"/>
          <p:cNvSpPr>
            <a:spLocks noGrp="1"/>
          </p:cNvSpPr>
          <p:nvPr>
            <p:ph type="sldNum" sz="quarter" idx="12"/>
          </p:nvPr>
        </p:nvSpPr>
        <p:spPr/>
        <p:txBody>
          <a:bodyPr/>
          <a:lstStyle/>
          <a:p>
            <a:pPr>
              <a:defRPr/>
            </a:pPr>
            <a:fld id="{60E2D83E-0596-44EE-9526-7E93780D9207}" type="slidenum">
              <a:rPr lang="es-ES" smtClean="0"/>
              <a:pPr>
                <a:defRPr/>
              </a:pPr>
              <a:t>‹Nº›</a:t>
            </a:fld>
            <a:endParaRPr lang="es-E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75489073"/>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a:defRPr/>
            </a:pPr>
            <a:fld id="{2C0CF147-1091-4AD9-9C42-3D3212A3E056}" type="datetime1">
              <a:rPr lang="es-ES" smtClean="0"/>
              <a:pPr>
                <a:defRPr/>
              </a:pPr>
              <a:t>13/08/2025</a:t>
            </a:fld>
            <a:endParaRPr lang="es-ES"/>
          </a:p>
        </p:txBody>
      </p:sp>
      <p:sp>
        <p:nvSpPr>
          <p:cNvPr id="5" name="Footer Placeholder 4"/>
          <p:cNvSpPr>
            <a:spLocks noGrp="1"/>
          </p:cNvSpPr>
          <p:nvPr>
            <p:ph type="ftr" sz="quarter" idx="11"/>
          </p:nvPr>
        </p:nvSpPr>
        <p:spPr/>
        <p:txBody>
          <a:bodyPr/>
          <a:lstStyle/>
          <a:p>
            <a:pPr>
              <a:defRPr/>
            </a:pPr>
            <a:r>
              <a:rPr lang="es-ES"/>
              <a:t>Lic. Claudio Godio - FAIN</a:t>
            </a:r>
          </a:p>
        </p:txBody>
      </p:sp>
      <p:sp>
        <p:nvSpPr>
          <p:cNvPr id="6" name="Slide Number Placeholder 5"/>
          <p:cNvSpPr>
            <a:spLocks noGrp="1"/>
          </p:cNvSpPr>
          <p:nvPr>
            <p:ph type="sldNum" sz="quarter" idx="12"/>
          </p:nvPr>
        </p:nvSpPr>
        <p:spPr/>
        <p:txBody>
          <a:bodyPr/>
          <a:lstStyle/>
          <a:p>
            <a:pPr>
              <a:defRPr/>
            </a:pPr>
            <a:fld id="{60E2D83E-0596-44EE-9526-7E93780D9207}" type="slidenum">
              <a:rPr lang="es-ES" smtClean="0"/>
              <a:pPr>
                <a:defRPr/>
              </a:pPr>
              <a:t>‹Nº›</a:t>
            </a:fld>
            <a:endParaRPr lang="es-ES"/>
          </a:p>
        </p:txBody>
      </p:sp>
    </p:spTree>
    <p:extLst>
      <p:ext uri="{BB962C8B-B14F-4D97-AF65-F5344CB8AC3E}">
        <p14:creationId xmlns:p14="http://schemas.microsoft.com/office/powerpoint/2010/main" val="3271354626"/>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a:defRPr/>
            </a:pPr>
            <a:fld id="{C8E03202-FEA2-432F-8C34-2A8223761219}" type="datetime1">
              <a:rPr lang="es-ES" smtClean="0"/>
              <a:pPr>
                <a:defRPr/>
              </a:pPr>
              <a:t>13/08/2025</a:t>
            </a:fld>
            <a:endParaRPr lang="es-ES"/>
          </a:p>
        </p:txBody>
      </p:sp>
      <p:sp>
        <p:nvSpPr>
          <p:cNvPr id="5" name="Footer Placeholder 4"/>
          <p:cNvSpPr>
            <a:spLocks noGrp="1"/>
          </p:cNvSpPr>
          <p:nvPr>
            <p:ph type="ftr" sz="quarter" idx="11"/>
          </p:nvPr>
        </p:nvSpPr>
        <p:spPr/>
        <p:txBody>
          <a:bodyPr/>
          <a:lstStyle/>
          <a:p>
            <a:pPr>
              <a:defRPr/>
            </a:pPr>
            <a:r>
              <a:rPr lang="es-ES"/>
              <a:t>Lic. Claudio Godio - FAIN</a:t>
            </a:r>
          </a:p>
        </p:txBody>
      </p:sp>
      <p:sp>
        <p:nvSpPr>
          <p:cNvPr id="6" name="Slide Number Placeholder 5"/>
          <p:cNvSpPr>
            <a:spLocks noGrp="1"/>
          </p:cNvSpPr>
          <p:nvPr>
            <p:ph type="sldNum" sz="quarter" idx="12"/>
          </p:nvPr>
        </p:nvSpPr>
        <p:spPr/>
        <p:txBody>
          <a:bodyPr/>
          <a:lstStyle/>
          <a:p>
            <a:pPr>
              <a:defRPr/>
            </a:pPr>
            <a:fld id="{7B530CB8-7821-41C9-BFA9-B9B4FD291D5B}" type="slidenum">
              <a:rPr lang="es-ES" smtClean="0"/>
              <a:pPr>
                <a:defRPr/>
              </a:pPr>
              <a:t>‹Nº›</a:t>
            </a:fld>
            <a:endParaRPr lang="es-ES"/>
          </a:p>
        </p:txBody>
      </p:sp>
    </p:spTree>
    <p:extLst>
      <p:ext uri="{BB962C8B-B14F-4D97-AF65-F5344CB8AC3E}">
        <p14:creationId xmlns:p14="http://schemas.microsoft.com/office/powerpoint/2010/main" val="19355718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a:defRPr/>
            </a:pPr>
            <a:fld id="{755608C3-6D0D-4772-860B-27959AA57908}" type="datetime1">
              <a:rPr lang="es-ES" smtClean="0"/>
              <a:pPr>
                <a:defRPr/>
              </a:pPr>
              <a:t>13/08/2025</a:t>
            </a:fld>
            <a:endParaRPr lang="es-ES"/>
          </a:p>
        </p:txBody>
      </p:sp>
      <p:sp>
        <p:nvSpPr>
          <p:cNvPr id="5" name="Footer Placeholder 4"/>
          <p:cNvSpPr>
            <a:spLocks noGrp="1"/>
          </p:cNvSpPr>
          <p:nvPr>
            <p:ph type="ftr" sz="quarter" idx="11"/>
          </p:nvPr>
        </p:nvSpPr>
        <p:spPr/>
        <p:txBody>
          <a:bodyPr/>
          <a:lstStyle/>
          <a:p>
            <a:pPr>
              <a:defRPr/>
            </a:pPr>
            <a:r>
              <a:rPr lang="es-ES"/>
              <a:t>Lic. Claudio Godio - FAIN</a:t>
            </a:r>
          </a:p>
        </p:txBody>
      </p:sp>
      <p:sp>
        <p:nvSpPr>
          <p:cNvPr id="6" name="Slide Number Placeholder 5"/>
          <p:cNvSpPr>
            <a:spLocks noGrp="1"/>
          </p:cNvSpPr>
          <p:nvPr>
            <p:ph type="sldNum" sz="quarter" idx="12"/>
          </p:nvPr>
        </p:nvSpPr>
        <p:spPr/>
        <p:txBody>
          <a:bodyPr/>
          <a:lstStyle/>
          <a:p>
            <a:pPr>
              <a:defRPr/>
            </a:pPr>
            <a:fld id="{55CB36F0-D28D-4B45-862A-1A9E19B0E6C6}" type="slidenum">
              <a:rPr lang="es-ES" smtClean="0"/>
              <a:pPr>
                <a:defRPr/>
              </a:pPr>
              <a:t>‹Nº›</a:t>
            </a:fld>
            <a:endParaRPr lang="es-ES"/>
          </a:p>
        </p:txBody>
      </p:sp>
    </p:spTree>
    <p:extLst>
      <p:ext uri="{BB962C8B-B14F-4D97-AF65-F5344CB8AC3E}">
        <p14:creationId xmlns:p14="http://schemas.microsoft.com/office/powerpoint/2010/main" val="909525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2C0CF147-1091-4AD9-9C42-3D3212A3E056}" type="datetime1">
              <a:rPr lang="es-ES" smtClean="0"/>
              <a:pPr>
                <a:defRPr/>
              </a:pPr>
              <a:t>13/08/2025</a:t>
            </a:fld>
            <a:endParaRPr lang="es-E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r>
              <a:rPr lang="es-ES"/>
              <a:t>Lic. Claudio Godio - FAIN</a:t>
            </a:r>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a:defRPr/>
            </a:pPr>
            <a:fld id="{60E2D83E-0596-44EE-9526-7E93780D9207}" type="slidenum">
              <a:rPr lang="es-ES" smtClean="0"/>
              <a:pPr>
                <a:defRPr/>
              </a:pPr>
              <a:t>‹Nº›</a:t>
            </a:fld>
            <a:endParaRPr lang="es-ES"/>
          </a:p>
        </p:txBody>
      </p:sp>
    </p:spTree>
    <p:extLst>
      <p:ext uri="{BB962C8B-B14F-4D97-AF65-F5344CB8AC3E}">
        <p14:creationId xmlns:p14="http://schemas.microsoft.com/office/powerpoint/2010/main" val="624743341"/>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rlopezcano.blogspot.com/2019/02/preguntas-tareas-deinvestigacion-e.html"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27577DEC-D9A5-404D-9789-702F4319B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9" name="Group 2058">
            <a:extLst>
              <a:ext uri="{FF2B5EF4-FFF2-40B4-BE49-F238E27FC236}">
                <a16:creationId xmlns:a16="http://schemas.microsoft.com/office/drawing/2014/main" id="{CEEA9366-CEA8-4F23-B065-4337F0D836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060" name="Straight Connector 2059">
              <a:extLst>
                <a:ext uri="{FF2B5EF4-FFF2-40B4-BE49-F238E27FC236}">
                  <a16:creationId xmlns:a16="http://schemas.microsoft.com/office/drawing/2014/main" id="{904A03D6-39B4-4278-9BE1-A07E024499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61" name="Straight Connector 2060">
              <a:extLst>
                <a:ext uri="{FF2B5EF4-FFF2-40B4-BE49-F238E27FC236}">
                  <a16:creationId xmlns:a16="http://schemas.microsoft.com/office/drawing/2014/main" id="{FBE459AF-3736-4886-82E0-9B5DA427B5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alpha val="80000"/>
                </a:schemeClr>
              </a:solidFill>
            </a:ln>
          </p:spPr>
          <p:style>
            <a:lnRef idx="2">
              <a:schemeClr val="accent1"/>
            </a:lnRef>
            <a:fillRef idx="0">
              <a:schemeClr val="accent1"/>
            </a:fillRef>
            <a:effectRef idx="1">
              <a:schemeClr val="accent1"/>
            </a:effectRef>
            <a:fontRef idx="minor">
              <a:schemeClr val="tx1"/>
            </a:fontRef>
          </p:style>
        </p:cxnSp>
        <p:sp>
          <p:nvSpPr>
            <p:cNvPr id="2062" name="Rectangle 23">
              <a:extLst>
                <a:ext uri="{FF2B5EF4-FFF2-40B4-BE49-F238E27FC236}">
                  <a16:creationId xmlns:a16="http://schemas.microsoft.com/office/drawing/2014/main" id="{4B6B88EF-180C-4E39-8A3F-A52E87110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63" name="Rectangle 25">
              <a:extLst>
                <a:ext uri="{FF2B5EF4-FFF2-40B4-BE49-F238E27FC236}">
                  <a16:creationId xmlns:a16="http://schemas.microsoft.com/office/drawing/2014/main" id="{52DFAACF-64D0-4621-8FF4-E2F03C3E8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64" name="Isosceles Triangle 2063">
              <a:extLst>
                <a:ext uri="{FF2B5EF4-FFF2-40B4-BE49-F238E27FC236}">
                  <a16:creationId xmlns:a16="http://schemas.microsoft.com/office/drawing/2014/main" id="{36611FF0-65B3-49DB-97C6-1B72AAD0FB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65" name="Rectangle 27">
              <a:extLst>
                <a:ext uri="{FF2B5EF4-FFF2-40B4-BE49-F238E27FC236}">
                  <a16:creationId xmlns:a16="http://schemas.microsoft.com/office/drawing/2014/main" id="{0F7407FE-86B1-4890-9D80-9406FBF29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66" name="Rectangle 29">
              <a:extLst>
                <a:ext uri="{FF2B5EF4-FFF2-40B4-BE49-F238E27FC236}">
                  <a16:creationId xmlns:a16="http://schemas.microsoft.com/office/drawing/2014/main" id="{EBD42D5B-8F87-45B3-98B3-C66944F92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67" name="Isosceles Triangle 2066">
              <a:extLst>
                <a:ext uri="{FF2B5EF4-FFF2-40B4-BE49-F238E27FC236}">
                  <a16:creationId xmlns:a16="http://schemas.microsoft.com/office/drawing/2014/main" id="{F5E04699-59E1-4468-9E7C-83070EEB4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68" name="Isosceles Triangle 2067">
              <a:extLst>
                <a:ext uri="{FF2B5EF4-FFF2-40B4-BE49-F238E27FC236}">
                  <a16:creationId xmlns:a16="http://schemas.microsoft.com/office/drawing/2014/main" id="{F2AE8F13-9A52-4D7F-9637-321EA7CF32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grpSp>
      <p:sp>
        <p:nvSpPr>
          <p:cNvPr id="2051" name="5 CuadroTexto"/>
          <p:cNvSpPr txBox="1">
            <a:spLocks noChangeArrowheads="1"/>
          </p:cNvSpPr>
          <p:nvPr/>
        </p:nvSpPr>
        <p:spPr bwMode="auto">
          <a:xfrm>
            <a:off x="1130300" y="4050833"/>
            <a:ext cx="5825202" cy="109689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spcBef>
                <a:spcPts val="1000"/>
              </a:spcBef>
              <a:buClr>
                <a:schemeClr val="accent1"/>
              </a:buClr>
              <a:buSzPct val="80000"/>
            </a:pPr>
            <a:r>
              <a:rPr lang="en-US" b="1" dirty="0">
                <a:latin typeface="+mn-lt"/>
              </a:rPr>
              <a:t>Clase 2</a:t>
            </a:r>
          </a:p>
        </p:txBody>
      </p:sp>
      <p:sp>
        <p:nvSpPr>
          <p:cNvPr id="2050" name="3 CuadroTexto"/>
          <p:cNvSpPr txBox="1">
            <a:spLocks noChangeArrowheads="1"/>
          </p:cNvSpPr>
          <p:nvPr/>
        </p:nvSpPr>
        <p:spPr bwMode="auto">
          <a:xfrm>
            <a:off x="1130300" y="2404534"/>
            <a:ext cx="5825202" cy="164630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lnSpc>
                <a:spcPct val="90000"/>
              </a:lnSpc>
              <a:spcBef>
                <a:spcPct val="0"/>
              </a:spcBef>
              <a:spcAft>
                <a:spcPts val="600"/>
              </a:spcAft>
            </a:pPr>
            <a:r>
              <a:rPr lang="en-US" sz="4600" b="1">
                <a:solidFill>
                  <a:schemeClr val="accent1"/>
                </a:solidFill>
                <a:latin typeface="+mj-lt"/>
                <a:ea typeface="+mj-ea"/>
                <a:cs typeface="+mj-cs"/>
              </a:rPr>
              <a:t>Paradigma Orientado a Objetos</a:t>
            </a:r>
          </a:p>
        </p:txBody>
      </p:sp>
      <p:sp>
        <p:nvSpPr>
          <p:cNvPr id="2052" name="1 Marcador de pie de página"/>
          <p:cNvSpPr>
            <a:spLocks noGrp="1"/>
          </p:cNvSpPr>
          <p:nvPr>
            <p:ph type="ftr" sz="quarter" idx="11"/>
          </p:nvPr>
        </p:nvSpPr>
        <p:spPr bwMode="auto">
          <a:xfrm>
            <a:off x="508000" y="6041362"/>
            <a:ext cx="4723209"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ts val="600"/>
              </a:spcAft>
            </a:pPr>
            <a:r>
              <a:rPr lang="en-US" b="1" kern="1200" dirty="0">
                <a:solidFill>
                  <a:schemeClr val="tx1">
                    <a:tint val="75000"/>
                  </a:schemeClr>
                </a:solidFill>
                <a:latin typeface="+mn-lt"/>
                <a:ea typeface="+mn-ea"/>
                <a:cs typeface="+mn-cs"/>
              </a:rPr>
              <a:t>Lic. Claudio Godio - FAIN</a:t>
            </a:r>
          </a:p>
        </p:txBody>
      </p:sp>
      <p:sp>
        <p:nvSpPr>
          <p:cNvPr id="3" name="2 Marcador de número de diapositiva"/>
          <p:cNvSpPr>
            <a:spLocks noGrp="1"/>
          </p:cNvSpPr>
          <p:nvPr>
            <p:ph type="sldNum" sz="quarter" idx="12"/>
          </p:nvPr>
        </p:nvSpPr>
        <p:spPr>
          <a:xfrm>
            <a:off x="6442997" y="6041362"/>
            <a:ext cx="512504" cy="365125"/>
          </a:xfrm>
        </p:spPr>
        <p:txBody>
          <a:bodyPr vert="horz" lIns="91440" tIns="45720" rIns="91440" bIns="45720" rtlCol="0" anchor="ctr">
            <a:normAutofit/>
          </a:bodyPr>
          <a:lstStyle/>
          <a:p>
            <a:pPr>
              <a:spcAft>
                <a:spcPts val="600"/>
              </a:spcAft>
              <a:defRPr/>
            </a:pPr>
            <a:fld id="{2714B45C-AE8B-4215-9FC2-87399170EC60}" type="slidenum">
              <a:rPr lang="en-US" smtClean="0"/>
              <a:pPr>
                <a:spcAft>
                  <a:spcPts val="600"/>
                </a:spcAft>
                <a:defRPr/>
              </a:pPr>
              <a:t>1</a:t>
            </a:fld>
            <a:endParaRPr lang="en-US"/>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idx="1"/>
          </p:nvPr>
        </p:nvSpPr>
        <p:spPr/>
        <p:txBody>
          <a:bodyPr/>
          <a:lstStyle/>
          <a:p>
            <a:pPr>
              <a:buFont typeface="Arial" charset="0"/>
              <a:buNone/>
            </a:pPr>
            <a:r>
              <a:rPr lang="es-ES" dirty="0"/>
              <a:t>	 </a:t>
            </a:r>
          </a:p>
        </p:txBody>
      </p:sp>
      <p:sp>
        <p:nvSpPr>
          <p:cNvPr id="2" name="1 Marcador de pie de página"/>
          <p:cNvSpPr>
            <a:spLocks noGrp="1"/>
          </p:cNvSpPr>
          <p:nvPr>
            <p:ph type="ftr" sz="quarter" idx="11"/>
          </p:nvPr>
        </p:nvSpPr>
        <p:spPr/>
        <p:txBody>
          <a:bodyPr/>
          <a:lstStyle/>
          <a:p>
            <a:pPr>
              <a:defRPr/>
            </a:pPr>
            <a:r>
              <a:rPr lang="es-ES"/>
              <a:t>Lic. Claudio Godio - FAIN</a:t>
            </a:r>
          </a:p>
        </p:txBody>
      </p:sp>
      <p:sp>
        <p:nvSpPr>
          <p:cNvPr id="3" name="2 Marcador de número de diapositiva"/>
          <p:cNvSpPr>
            <a:spLocks noGrp="1"/>
          </p:cNvSpPr>
          <p:nvPr>
            <p:ph type="sldNum" sz="quarter" idx="12"/>
          </p:nvPr>
        </p:nvSpPr>
        <p:spPr/>
        <p:txBody>
          <a:bodyPr/>
          <a:lstStyle/>
          <a:p>
            <a:pPr>
              <a:defRPr/>
            </a:pPr>
            <a:fld id="{7AAE2648-9DC6-4927-BF1E-EBD7F46E55A3}" type="slidenum">
              <a:rPr lang="es-ES" smtClean="0"/>
              <a:pPr>
                <a:defRPr/>
              </a:pPr>
              <a:t>2</a:t>
            </a:fld>
            <a:endParaRPr lang="es-ES"/>
          </a:p>
        </p:txBody>
      </p:sp>
      <p:sp>
        <p:nvSpPr>
          <p:cNvPr id="6148" name="Text Box 4"/>
          <p:cNvSpPr txBox="1">
            <a:spLocks noChangeArrowheads="1"/>
          </p:cNvSpPr>
          <p:nvPr/>
        </p:nvSpPr>
        <p:spPr bwMode="auto">
          <a:xfrm>
            <a:off x="367" y="880784"/>
            <a:ext cx="9154256"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anchor="t">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 sz="2400" b="1" dirty="0">
                <a:solidFill>
                  <a:schemeClr val="tx2"/>
                </a:solidFill>
                <a:latin typeface="Verdana" pitchFamily="34" charset="0"/>
              </a:rPr>
              <a:t>Programación Orientada a Objetos</a:t>
            </a:r>
            <a:endParaRPr lang="es-ES"/>
          </a:p>
          <a:p>
            <a:pPr algn="just" eaLnBrk="1" hangingPunct="1"/>
            <a:endParaRPr lang="es-ES" sz="2400" b="1" dirty="0">
              <a:solidFill>
                <a:schemeClr val="tx2"/>
              </a:solidFill>
              <a:latin typeface="Verdana" pitchFamily="34" charset="0"/>
            </a:endParaRPr>
          </a:p>
          <a:p>
            <a:pPr algn="ctr" eaLnBrk="1" hangingPunct="1"/>
            <a:r>
              <a:rPr lang="es-ES" sz="2000" b="1" i="1" dirty="0">
                <a:solidFill>
                  <a:srgbClr val="800000"/>
                </a:solidFill>
                <a:latin typeface="Verdana" pitchFamily="34" charset="0"/>
              </a:rPr>
              <a:t>“Utiliza objetos y sus interacciones para diseñar aplicaciones y programas de computadora”</a:t>
            </a:r>
          </a:p>
        </p:txBody>
      </p:sp>
      <p:sp>
        <p:nvSpPr>
          <p:cNvPr id="6149" name="Text Box 5"/>
          <p:cNvSpPr txBox="1">
            <a:spLocks noChangeArrowheads="1"/>
          </p:cNvSpPr>
          <p:nvPr/>
        </p:nvSpPr>
        <p:spPr bwMode="auto">
          <a:xfrm>
            <a:off x="609599" y="3068241"/>
            <a:ext cx="7159079" cy="2973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30000"/>
              </a:spcBef>
              <a:spcAft>
                <a:spcPct val="30000"/>
              </a:spcAft>
              <a:buFont typeface="Wingdings" pitchFamily="2" charset="2"/>
              <a:buChar char="v"/>
            </a:pPr>
            <a:r>
              <a:rPr lang="es-ES" sz="2400" dirty="0">
                <a:solidFill>
                  <a:srgbClr val="000099"/>
                </a:solidFill>
                <a:latin typeface="Verdana" pitchFamily="34" charset="0"/>
              </a:rPr>
              <a:t>Los objetos son entidades que combinan:</a:t>
            </a:r>
          </a:p>
          <a:p>
            <a:pPr algn="just" eaLnBrk="1" hangingPunct="1">
              <a:spcBef>
                <a:spcPct val="30000"/>
              </a:spcBef>
              <a:spcAft>
                <a:spcPct val="30000"/>
              </a:spcAft>
              <a:buFont typeface="Wingdings" pitchFamily="2" charset="2"/>
              <a:buChar char="v"/>
            </a:pPr>
            <a:r>
              <a:rPr lang="es-ES" sz="2400" dirty="0">
                <a:solidFill>
                  <a:srgbClr val="000099"/>
                </a:solidFill>
                <a:latin typeface="Verdana" pitchFamily="34" charset="0"/>
              </a:rPr>
              <a:t>El </a:t>
            </a:r>
            <a:r>
              <a:rPr lang="es-ES" sz="2400" b="1" u="sng" dirty="0">
                <a:solidFill>
                  <a:srgbClr val="000099"/>
                </a:solidFill>
                <a:latin typeface="Verdana" pitchFamily="34" charset="0"/>
              </a:rPr>
              <a:t>estado</a:t>
            </a:r>
            <a:r>
              <a:rPr lang="es-ES" sz="2400" dirty="0">
                <a:solidFill>
                  <a:srgbClr val="000099"/>
                </a:solidFill>
                <a:latin typeface="Verdana" pitchFamily="34" charset="0"/>
              </a:rPr>
              <a:t> está compuesto de datos.</a:t>
            </a:r>
          </a:p>
          <a:p>
            <a:pPr algn="just" eaLnBrk="1" hangingPunct="1">
              <a:spcBef>
                <a:spcPct val="30000"/>
              </a:spcBef>
              <a:spcAft>
                <a:spcPct val="30000"/>
              </a:spcAft>
              <a:buFont typeface="Wingdings" pitchFamily="2" charset="2"/>
              <a:buChar char="v"/>
            </a:pPr>
            <a:r>
              <a:rPr lang="es-ES" sz="2400" dirty="0">
                <a:solidFill>
                  <a:srgbClr val="000099"/>
                </a:solidFill>
                <a:latin typeface="Verdana" pitchFamily="34" charset="0"/>
              </a:rPr>
              <a:t>El </a:t>
            </a:r>
            <a:r>
              <a:rPr lang="es-ES" sz="2400" b="1" u="sng" dirty="0">
                <a:solidFill>
                  <a:srgbClr val="000099"/>
                </a:solidFill>
                <a:latin typeface="Verdana" pitchFamily="34" charset="0"/>
              </a:rPr>
              <a:t>comportamiento</a:t>
            </a:r>
            <a:r>
              <a:rPr lang="es-ES" sz="2400" dirty="0">
                <a:solidFill>
                  <a:srgbClr val="000099"/>
                </a:solidFill>
                <a:latin typeface="Verdana" pitchFamily="34" charset="0"/>
              </a:rPr>
              <a:t> está compuesto de acciones.</a:t>
            </a:r>
          </a:p>
          <a:p>
            <a:pPr algn="just" eaLnBrk="1" hangingPunct="1">
              <a:spcBef>
                <a:spcPct val="30000"/>
              </a:spcBef>
              <a:spcAft>
                <a:spcPct val="30000"/>
              </a:spcAft>
              <a:buFont typeface="Wingdings" pitchFamily="2" charset="2"/>
              <a:buChar char="v"/>
            </a:pPr>
            <a:r>
              <a:rPr lang="es-ES" sz="2400" dirty="0">
                <a:solidFill>
                  <a:srgbClr val="000099"/>
                </a:solidFill>
                <a:latin typeface="Verdana" pitchFamily="34" charset="0"/>
              </a:rPr>
              <a:t>La </a:t>
            </a:r>
            <a:r>
              <a:rPr lang="es-ES" sz="2400" b="1" u="sng" dirty="0">
                <a:solidFill>
                  <a:srgbClr val="000099"/>
                </a:solidFill>
                <a:latin typeface="Verdana" pitchFamily="34" charset="0"/>
              </a:rPr>
              <a:t>identidad</a:t>
            </a:r>
            <a:r>
              <a:rPr lang="es-ES" sz="2400" dirty="0">
                <a:solidFill>
                  <a:srgbClr val="000099"/>
                </a:solidFill>
                <a:latin typeface="Verdana" pitchFamily="34" charset="0"/>
              </a:rPr>
              <a:t> es una propiedad que lo diferencia</a:t>
            </a:r>
            <a:r>
              <a:rPr lang="es-ES"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idx="1"/>
          </p:nvPr>
        </p:nvSpPr>
        <p:spPr/>
        <p:txBody>
          <a:bodyPr/>
          <a:lstStyle/>
          <a:p>
            <a:pPr>
              <a:buFont typeface="Arial" charset="0"/>
              <a:buNone/>
            </a:pPr>
            <a:r>
              <a:rPr lang="es-ES"/>
              <a:t>	 </a:t>
            </a:r>
          </a:p>
        </p:txBody>
      </p:sp>
      <p:sp>
        <p:nvSpPr>
          <p:cNvPr id="2" name="1 Marcador de pie de página"/>
          <p:cNvSpPr>
            <a:spLocks noGrp="1"/>
          </p:cNvSpPr>
          <p:nvPr>
            <p:ph type="ftr" sz="quarter" idx="11"/>
          </p:nvPr>
        </p:nvSpPr>
        <p:spPr/>
        <p:txBody>
          <a:bodyPr/>
          <a:lstStyle/>
          <a:p>
            <a:pPr>
              <a:defRPr/>
            </a:pPr>
            <a:r>
              <a:rPr lang="es-ES"/>
              <a:t>Lic. Claudio Godio - FAIN</a:t>
            </a:r>
          </a:p>
        </p:txBody>
      </p:sp>
      <p:sp>
        <p:nvSpPr>
          <p:cNvPr id="3" name="2 Marcador de número de diapositiva"/>
          <p:cNvSpPr>
            <a:spLocks noGrp="1"/>
          </p:cNvSpPr>
          <p:nvPr>
            <p:ph type="sldNum" sz="quarter" idx="12"/>
          </p:nvPr>
        </p:nvSpPr>
        <p:spPr/>
        <p:txBody>
          <a:bodyPr/>
          <a:lstStyle/>
          <a:p>
            <a:pPr>
              <a:defRPr/>
            </a:pPr>
            <a:fld id="{41DA95E6-4EAB-4B64-AB08-76CDFD1CD3BB}" type="slidenum">
              <a:rPr lang="es-ES" smtClean="0"/>
              <a:pPr>
                <a:defRPr/>
              </a:pPr>
              <a:t>3</a:t>
            </a:fld>
            <a:endParaRPr lang="es-ES"/>
          </a:p>
        </p:txBody>
      </p:sp>
      <p:sp>
        <p:nvSpPr>
          <p:cNvPr id="7172" name="Text Box 4"/>
          <p:cNvSpPr txBox="1">
            <a:spLocks noChangeArrowheads="1"/>
          </p:cNvSpPr>
          <p:nvPr/>
        </p:nvSpPr>
        <p:spPr bwMode="auto">
          <a:xfrm>
            <a:off x="-2633" y="816637"/>
            <a:ext cx="9150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anchor="t">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 sz="2400" b="1" dirty="0">
                <a:solidFill>
                  <a:schemeClr val="tx2"/>
                </a:solidFill>
                <a:latin typeface="Verdana"/>
                <a:ea typeface="Verdana"/>
              </a:rPr>
              <a:t>Programación Orientada a Objetos</a:t>
            </a:r>
          </a:p>
        </p:txBody>
      </p:sp>
      <p:sp>
        <p:nvSpPr>
          <p:cNvPr id="7173" name="Text Box 5"/>
          <p:cNvSpPr txBox="1">
            <a:spLocks noChangeArrowheads="1"/>
          </p:cNvSpPr>
          <p:nvPr/>
        </p:nvSpPr>
        <p:spPr bwMode="auto">
          <a:xfrm>
            <a:off x="609598" y="2090172"/>
            <a:ext cx="691473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buFont typeface="Wingdings" pitchFamily="2" charset="2"/>
              <a:buNone/>
            </a:pPr>
            <a:endParaRPr lang="es-ES" sz="2400" dirty="0"/>
          </a:p>
          <a:p>
            <a:pPr algn="just" eaLnBrk="1" hangingPunct="1">
              <a:buFont typeface="Wingdings" pitchFamily="2" charset="2"/>
              <a:buChar char="v"/>
            </a:pPr>
            <a:r>
              <a:rPr lang="es-ES" sz="2400" dirty="0">
                <a:solidFill>
                  <a:srgbClr val="000099"/>
                </a:solidFill>
                <a:latin typeface="Verdana" pitchFamily="34" charset="0"/>
              </a:rPr>
              <a:t>Los objetos pueden representar cualquier cosa, real o abstracta.</a:t>
            </a:r>
          </a:p>
          <a:p>
            <a:pPr algn="just" eaLnBrk="1" hangingPunct="1">
              <a:buFont typeface="Wingdings" pitchFamily="2" charset="2"/>
              <a:buChar char="v"/>
            </a:pPr>
            <a:endParaRPr lang="es-ES" sz="2400" dirty="0">
              <a:solidFill>
                <a:srgbClr val="000099"/>
              </a:solidFill>
              <a:latin typeface="Verdana" pitchFamily="34" charset="0"/>
            </a:endParaRPr>
          </a:p>
          <a:p>
            <a:pPr algn="just" eaLnBrk="1" hangingPunct="1">
              <a:buFont typeface="Wingdings" pitchFamily="2" charset="2"/>
              <a:buChar char="v"/>
            </a:pPr>
            <a:r>
              <a:rPr lang="es-ES" sz="2400" dirty="0">
                <a:solidFill>
                  <a:srgbClr val="000099"/>
                </a:solidFill>
                <a:latin typeface="Verdana" pitchFamily="34" charset="0"/>
              </a:rPr>
              <a:t>Almacenamos datos y los métodos que controlan dichos datos.</a:t>
            </a:r>
          </a:p>
          <a:p>
            <a:pPr algn="just" eaLnBrk="1" hangingPunct="1">
              <a:buFont typeface="Wingdings" pitchFamily="2" charset="2"/>
              <a:buChar char="v"/>
            </a:pPr>
            <a:endParaRPr lang="es-ES" sz="2400" dirty="0">
              <a:solidFill>
                <a:srgbClr val="000099"/>
              </a:solidFill>
              <a:latin typeface="Verdana"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idx="1"/>
          </p:nvPr>
        </p:nvSpPr>
        <p:spPr/>
        <p:txBody>
          <a:bodyPr/>
          <a:lstStyle/>
          <a:p>
            <a:pPr>
              <a:buFont typeface="Arial" charset="0"/>
              <a:buNone/>
            </a:pPr>
            <a:r>
              <a:rPr lang="es-ES"/>
              <a:t>	 </a:t>
            </a:r>
          </a:p>
        </p:txBody>
      </p:sp>
      <p:sp>
        <p:nvSpPr>
          <p:cNvPr id="2" name="1 Marcador de pie de página"/>
          <p:cNvSpPr>
            <a:spLocks noGrp="1"/>
          </p:cNvSpPr>
          <p:nvPr>
            <p:ph type="ftr" sz="quarter" idx="11"/>
          </p:nvPr>
        </p:nvSpPr>
        <p:spPr/>
        <p:txBody>
          <a:bodyPr/>
          <a:lstStyle/>
          <a:p>
            <a:pPr>
              <a:defRPr/>
            </a:pPr>
            <a:r>
              <a:rPr lang="es-ES"/>
              <a:t>Lic. Claudio Godio - FAIN</a:t>
            </a:r>
          </a:p>
        </p:txBody>
      </p:sp>
      <p:sp>
        <p:nvSpPr>
          <p:cNvPr id="3" name="2 Marcador de número de diapositiva"/>
          <p:cNvSpPr>
            <a:spLocks noGrp="1"/>
          </p:cNvSpPr>
          <p:nvPr>
            <p:ph type="sldNum" sz="quarter" idx="12"/>
          </p:nvPr>
        </p:nvSpPr>
        <p:spPr/>
        <p:txBody>
          <a:bodyPr/>
          <a:lstStyle/>
          <a:p>
            <a:pPr>
              <a:defRPr/>
            </a:pPr>
            <a:fld id="{41DA95E6-4EAB-4B64-AB08-76CDFD1CD3BB}" type="slidenum">
              <a:rPr lang="es-ES" smtClean="0"/>
              <a:pPr>
                <a:defRPr/>
              </a:pPr>
              <a:t>4</a:t>
            </a:fld>
            <a:endParaRPr lang="es-ES"/>
          </a:p>
        </p:txBody>
      </p:sp>
      <p:sp>
        <p:nvSpPr>
          <p:cNvPr id="7172" name="Text Box 4"/>
          <p:cNvSpPr txBox="1">
            <a:spLocks noChangeArrowheads="1"/>
          </p:cNvSpPr>
          <p:nvPr/>
        </p:nvSpPr>
        <p:spPr bwMode="auto">
          <a:xfrm>
            <a:off x="214313" y="709844"/>
            <a:ext cx="8791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t">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 sz="2400" b="1" dirty="0">
                <a:solidFill>
                  <a:schemeClr val="tx2"/>
                </a:solidFill>
                <a:latin typeface="Verdana"/>
                <a:ea typeface="Verdana"/>
              </a:rPr>
              <a:t>Programación Orientada a Objetos</a:t>
            </a:r>
          </a:p>
        </p:txBody>
      </p:sp>
      <p:sp>
        <p:nvSpPr>
          <p:cNvPr id="7173" name="Text Box 5"/>
          <p:cNvSpPr txBox="1">
            <a:spLocks noChangeArrowheads="1"/>
          </p:cNvSpPr>
          <p:nvPr/>
        </p:nvSpPr>
        <p:spPr bwMode="auto">
          <a:xfrm>
            <a:off x="609598" y="2090172"/>
            <a:ext cx="698673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buFont typeface="Wingdings" pitchFamily="2" charset="2"/>
              <a:buChar char="v"/>
            </a:pPr>
            <a:r>
              <a:rPr lang="es-ES" sz="2400" dirty="0">
                <a:solidFill>
                  <a:srgbClr val="000099"/>
                </a:solidFill>
                <a:latin typeface="Verdana" panose="020B0604030504040204" pitchFamily="34" charset="0"/>
                <a:ea typeface="Verdana" panose="020B0604030504040204" pitchFamily="34" charset="0"/>
              </a:rPr>
              <a:t>Un objeto puede estar compuesto por otros objetos (objetos más complejos).</a:t>
            </a:r>
          </a:p>
          <a:p>
            <a:pPr algn="just" eaLnBrk="1" hangingPunct="1">
              <a:buFont typeface="Wingdings" pitchFamily="2" charset="2"/>
              <a:buChar char="v"/>
            </a:pPr>
            <a:endParaRPr lang="es-ES" sz="2400" dirty="0">
              <a:solidFill>
                <a:srgbClr val="000099"/>
              </a:solidFill>
              <a:latin typeface="Verdana" panose="020B0604030504040204" pitchFamily="34" charset="0"/>
              <a:ea typeface="Verdana" panose="020B0604030504040204" pitchFamily="34" charset="0"/>
            </a:endParaRPr>
          </a:p>
          <a:p>
            <a:pPr algn="just" eaLnBrk="1" hangingPunct="1">
              <a:buFont typeface="Wingdings" pitchFamily="2" charset="2"/>
              <a:buChar char="v"/>
            </a:pPr>
            <a:r>
              <a:rPr lang="es-ES" sz="2400" dirty="0">
                <a:solidFill>
                  <a:srgbClr val="000099"/>
                </a:solidFill>
                <a:latin typeface="Verdana" panose="020B0604030504040204" pitchFamily="34" charset="0"/>
                <a:ea typeface="Verdana" panose="020B0604030504040204" pitchFamily="34" charset="0"/>
              </a:rPr>
              <a:t>En función a la cantidad de propiedades y métodos que se definan para el objeto, mayor será la aproximación con la realidad (mayor nivel de detalle).</a:t>
            </a:r>
            <a:r>
              <a:rPr lang="es-ES" sz="2400" dirty="0">
                <a:latin typeface="Verdana" panose="020B0604030504040204" pitchFamily="34" charset="0"/>
                <a:ea typeface="Verdana" panose="020B0604030504040204" pitchFamily="34" charset="0"/>
              </a:rPr>
              <a:t> </a:t>
            </a:r>
          </a:p>
        </p:txBody>
      </p:sp>
    </p:spTree>
    <p:extLst>
      <p:ext uri="{BB962C8B-B14F-4D97-AF65-F5344CB8AC3E}">
        <p14:creationId xmlns:p14="http://schemas.microsoft.com/office/powerpoint/2010/main" val="1028872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1 Marcador de pie de página"/>
          <p:cNvSpPr>
            <a:spLocks noGrp="1"/>
          </p:cNvSpPr>
          <p:nvPr>
            <p:ph type="ftr" sz="quarter" idx="11"/>
          </p:nvPr>
        </p:nvSpPr>
        <p:spPr/>
        <p:txBody>
          <a:bodyPr/>
          <a:lstStyle/>
          <a:p>
            <a:pPr>
              <a:defRPr/>
            </a:pPr>
            <a:r>
              <a:rPr lang="es-ES"/>
              <a:t>Lic. Claudio Godio - FAIN</a:t>
            </a:r>
          </a:p>
        </p:txBody>
      </p:sp>
      <p:sp>
        <p:nvSpPr>
          <p:cNvPr id="3" name="2 Marcador de número de diapositiva"/>
          <p:cNvSpPr>
            <a:spLocks noGrp="1"/>
          </p:cNvSpPr>
          <p:nvPr>
            <p:ph type="sldNum" sz="quarter" idx="12"/>
          </p:nvPr>
        </p:nvSpPr>
        <p:spPr/>
        <p:txBody>
          <a:bodyPr/>
          <a:lstStyle/>
          <a:p>
            <a:pPr>
              <a:defRPr/>
            </a:pPr>
            <a:fld id="{1CDC3669-6D22-4DF2-8E4D-99869F52C936}" type="slidenum">
              <a:rPr lang="es-ES" smtClean="0"/>
              <a:pPr>
                <a:defRPr/>
              </a:pPr>
              <a:t>5</a:t>
            </a:fld>
            <a:endParaRPr lang="es-ES"/>
          </a:p>
        </p:txBody>
      </p:sp>
      <p:sp>
        <p:nvSpPr>
          <p:cNvPr id="9220" name="Text Box 4"/>
          <p:cNvSpPr txBox="1">
            <a:spLocks noChangeArrowheads="1"/>
          </p:cNvSpPr>
          <p:nvPr/>
        </p:nvSpPr>
        <p:spPr bwMode="auto">
          <a:xfrm>
            <a:off x="0" y="390526"/>
            <a:ext cx="914399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 sz="2400" b="1" dirty="0">
                <a:solidFill>
                  <a:schemeClr val="tx2"/>
                </a:solidFill>
                <a:latin typeface="Verdana" pitchFamily="34" charset="0"/>
              </a:rPr>
              <a:t>Estructura de un Objeto</a:t>
            </a:r>
          </a:p>
        </p:txBody>
      </p:sp>
      <p:sp>
        <p:nvSpPr>
          <p:cNvPr id="9221" name="AutoShape 6"/>
          <p:cNvSpPr>
            <a:spLocks noChangeArrowheads="1"/>
          </p:cNvSpPr>
          <p:nvPr/>
        </p:nvSpPr>
        <p:spPr bwMode="auto">
          <a:xfrm>
            <a:off x="2524125" y="1477278"/>
            <a:ext cx="3673475" cy="3744912"/>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22" name="Rectangle 7"/>
          <p:cNvSpPr>
            <a:spLocks noChangeArrowheads="1"/>
          </p:cNvSpPr>
          <p:nvPr/>
        </p:nvSpPr>
        <p:spPr bwMode="auto">
          <a:xfrm>
            <a:off x="3595688" y="3207653"/>
            <a:ext cx="792162" cy="3603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
              <a:t>dato2</a:t>
            </a:r>
          </a:p>
        </p:txBody>
      </p:sp>
      <p:sp>
        <p:nvSpPr>
          <p:cNvPr id="9223" name="Rectangle 8"/>
          <p:cNvSpPr>
            <a:spLocks noChangeArrowheads="1"/>
          </p:cNvSpPr>
          <p:nvPr/>
        </p:nvSpPr>
        <p:spPr bwMode="auto">
          <a:xfrm>
            <a:off x="3998913" y="2631390"/>
            <a:ext cx="792162" cy="3603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
              <a:t>dato1</a:t>
            </a:r>
          </a:p>
        </p:txBody>
      </p:sp>
      <p:sp>
        <p:nvSpPr>
          <p:cNvPr id="9224" name="Rectangle 9"/>
          <p:cNvSpPr>
            <a:spLocks noChangeArrowheads="1"/>
          </p:cNvSpPr>
          <p:nvPr/>
        </p:nvSpPr>
        <p:spPr bwMode="auto">
          <a:xfrm>
            <a:off x="3956050" y="3768040"/>
            <a:ext cx="792163" cy="3603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
              <a:t>dato3</a:t>
            </a:r>
          </a:p>
        </p:txBody>
      </p:sp>
      <p:sp>
        <p:nvSpPr>
          <p:cNvPr id="9225" name="Oval 10"/>
          <p:cNvSpPr>
            <a:spLocks noChangeArrowheads="1"/>
          </p:cNvSpPr>
          <p:nvPr/>
        </p:nvSpPr>
        <p:spPr bwMode="auto">
          <a:xfrm>
            <a:off x="3017838" y="2174190"/>
            <a:ext cx="576262" cy="534988"/>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
              <a:t>MétodoA</a:t>
            </a:r>
          </a:p>
        </p:txBody>
      </p:sp>
      <p:sp>
        <p:nvSpPr>
          <p:cNvPr id="9226" name="Oval 11"/>
          <p:cNvSpPr>
            <a:spLocks noChangeArrowheads="1"/>
          </p:cNvSpPr>
          <p:nvPr/>
        </p:nvSpPr>
        <p:spPr bwMode="auto">
          <a:xfrm>
            <a:off x="2835275" y="3642628"/>
            <a:ext cx="576263" cy="587375"/>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
              <a:t>MétodoC</a:t>
            </a:r>
          </a:p>
        </p:txBody>
      </p:sp>
      <p:sp>
        <p:nvSpPr>
          <p:cNvPr id="9227" name="Oval 12"/>
          <p:cNvSpPr>
            <a:spLocks noChangeArrowheads="1"/>
          </p:cNvSpPr>
          <p:nvPr/>
        </p:nvSpPr>
        <p:spPr bwMode="auto">
          <a:xfrm>
            <a:off x="4906963" y="1955115"/>
            <a:ext cx="576262" cy="5889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
              <a:t>MétodoB</a:t>
            </a:r>
          </a:p>
        </p:txBody>
      </p:sp>
      <p:sp>
        <p:nvSpPr>
          <p:cNvPr id="9228" name="Oval 13"/>
          <p:cNvSpPr>
            <a:spLocks noChangeArrowheads="1"/>
          </p:cNvSpPr>
          <p:nvPr/>
        </p:nvSpPr>
        <p:spPr bwMode="auto">
          <a:xfrm>
            <a:off x="5049838" y="3999815"/>
            <a:ext cx="576262" cy="5889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
              <a:t>MétodoD</a:t>
            </a:r>
          </a:p>
        </p:txBody>
      </p:sp>
      <p:sp>
        <p:nvSpPr>
          <p:cNvPr id="9229" name="Oval 14"/>
          <p:cNvSpPr>
            <a:spLocks noChangeArrowheads="1"/>
          </p:cNvSpPr>
          <p:nvPr/>
        </p:nvSpPr>
        <p:spPr bwMode="auto">
          <a:xfrm>
            <a:off x="3811588" y="4442728"/>
            <a:ext cx="576262" cy="53498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
              <a:t>MétodoE</a:t>
            </a:r>
          </a:p>
        </p:txBody>
      </p:sp>
      <p:sp>
        <p:nvSpPr>
          <p:cNvPr id="9230" name="Text Box 21"/>
          <p:cNvSpPr txBox="1">
            <a:spLocks noChangeArrowheads="1"/>
          </p:cNvSpPr>
          <p:nvPr/>
        </p:nvSpPr>
        <p:spPr bwMode="auto">
          <a:xfrm>
            <a:off x="6659563" y="3284538"/>
            <a:ext cx="201612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s-ES" sz="2400" dirty="0">
                <a:latin typeface="Verdana" pitchFamily="34" charset="0"/>
              </a:rPr>
              <a:t>Los datos no son  accesibles al usuario</a:t>
            </a:r>
          </a:p>
        </p:txBody>
      </p:sp>
      <p:sp>
        <p:nvSpPr>
          <p:cNvPr id="9231" name="Text Box 24"/>
          <p:cNvSpPr txBox="1">
            <a:spLocks noChangeArrowheads="1"/>
          </p:cNvSpPr>
          <p:nvPr/>
        </p:nvSpPr>
        <p:spPr bwMode="auto">
          <a:xfrm>
            <a:off x="323850" y="1916113"/>
            <a:ext cx="180022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s-ES" sz="2400" dirty="0">
                <a:latin typeface="Verdana" pitchFamily="34" charset="0"/>
              </a:rPr>
              <a:t>Los métodos son la forma de operar con los datos</a:t>
            </a:r>
          </a:p>
        </p:txBody>
      </p:sp>
      <p:sp>
        <p:nvSpPr>
          <p:cNvPr id="61467" name="Text Box 27"/>
          <p:cNvSpPr txBox="1">
            <a:spLocks noChangeArrowheads="1"/>
          </p:cNvSpPr>
          <p:nvPr/>
        </p:nvSpPr>
        <p:spPr bwMode="auto">
          <a:xfrm>
            <a:off x="453230" y="5300595"/>
            <a:ext cx="823753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s-ES" sz="5400" b="1" i="1" dirty="0">
                <a:solidFill>
                  <a:srgbClr val="800000"/>
                </a:solidFill>
                <a:latin typeface="Verdana" pitchFamily="34" charset="0"/>
              </a:rPr>
              <a:t>Encapsulamiento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9223"/>
                                        </p:tgtEl>
                                        <p:attrNameLst>
                                          <p:attrName>style.visibility</p:attrName>
                                        </p:attrNameLst>
                                      </p:cBhvr>
                                      <p:to>
                                        <p:strVal val="visible"/>
                                      </p:to>
                                    </p:set>
                                    <p:animEffect transition="in" filter="fade">
                                      <p:cBhvr>
                                        <p:cTn id="11" dur="1000"/>
                                        <p:tgtEl>
                                          <p:spTgt spid="9223"/>
                                        </p:tgtEl>
                                      </p:cBhvr>
                                    </p:animEffect>
                                    <p:anim calcmode="lin" valueType="num">
                                      <p:cBhvr>
                                        <p:cTn id="12" dur="1000" fill="hold"/>
                                        <p:tgtEl>
                                          <p:spTgt spid="9223"/>
                                        </p:tgtEl>
                                        <p:attrNameLst>
                                          <p:attrName>ppt_x</p:attrName>
                                        </p:attrNameLst>
                                      </p:cBhvr>
                                      <p:tavLst>
                                        <p:tav tm="0">
                                          <p:val>
                                            <p:strVal val="#ppt_x"/>
                                          </p:val>
                                        </p:tav>
                                        <p:tav tm="100000">
                                          <p:val>
                                            <p:strVal val="#ppt_x"/>
                                          </p:val>
                                        </p:tav>
                                      </p:tavLst>
                                    </p:anim>
                                    <p:anim calcmode="lin" valueType="num">
                                      <p:cBhvr>
                                        <p:cTn id="13" dur="1000" fill="hold"/>
                                        <p:tgtEl>
                                          <p:spTgt spid="9223"/>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9222"/>
                                        </p:tgtEl>
                                        <p:attrNameLst>
                                          <p:attrName>style.visibility</p:attrName>
                                        </p:attrNameLst>
                                      </p:cBhvr>
                                      <p:to>
                                        <p:strVal val="visible"/>
                                      </p:to>
                                    </p:set>
                                    <p:animEffect transition="in" filter="fade">
                                      <p:cBhvr>
                                        <p:cTn id="16" dur="1000"/>
                                        <p:tgtEl>
                                          <p:spTgt spid="9222"/>
                                        </p:tgtEl>
                                      </p:cBhvr>
                                    </p:animEffect>
                                    <p:anim calcmode="lin" valueType="num">
                                      <p:cBhvr>
                                        <p:cTn id="17" dur="1000" fill="hold"/>
                                        <p:tgtEl>
                                          <p:spTgt spid="9222"/>
                                        </p:tgtEl>
                                        <p:attrNameLst>
                                          <p:attrName>ppt_x</p:attrName>
                                        </p:attrNameLst>
                                      </p:cBhvr>
                                      <p:tavLst>
                                        <p:tav tm="0">
                                          <p:val>
                                            <p:strVal val="#ppt_x"/>
                                          </p:val>
                                        </p:tav>
                                        <p:tav tm="100000">
                                          <p:val>
                                            <p:strVal val="#ppt_x"/>
                                          </p:val>
                                        </p:tav>
                                      </p:tavLst>
                                    </p:anim>
                                    <p:anim calcmode="lin" valueType="num">
                                      <p:cBhvr>
                                        <p:cTn id="18" dur="1000" fill="hold"/>
                                        <p:tgtEl>
                                          <p:spTgt spid="9222"/>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9224"/>
                                        </p:tgtEl>
                                        <p:attrNameLst>
                                          <p:attrName>style.visibility</p:attrName>
                                        </p:attrNameLst>
                                      </p:cBhvr>
                                      <p:to>
                                        <p:strVal val="visible"/>
                                      </p:to>
                                    </p:set>
                                    <p:animEffect transition="in" filter="fade">
                                      <p:cBhvr>
                                        <p:cTn id="21" dur="1000"/>
                                        <p:tgtEl>
                                          <p:spTgt spid="9224"/>
                                        </p:tgtEl>
                                      </p:cBhvr>
                                    </p:animEffect>
                                    <p:anim calcmode="lin" valueType="num">
                                      <p:cBhvr>
                                        <p:cTn id="22" dur="1000" fill="hold"/>
                                        <p:tgtEl>
                                          <p:spTgt spid="9224"/>
                                        </p:tgtEl>
                                        <p:attrNameLst>
                                          <p:attrName>ppt_x</p:attrName>
                                        </p:attrNameLst>
                                      </p:cBhvr>
                                      <p:tavLst>
                                        <p:tav tm="0">
                                          <p:val>
                                            <p:strVal val="#ppt_x"/>
                                          </p:val>
                                        </p:tav>
                                        <p:tav tm="100000">
                                          <p:val>
                                            <p:strVal val="#ppt_x"/>
                                          </p:val>
                                        </p:tav>
                                      </p:tavLst>
                                    </p:anim>
                                    <p:anim calcmode="lin" valueType="num">
                                      <p:cBhvr>
                                        <p:cTn id="23" dur="1000" fill="hold"/>
                                        <p:tgtEl>
                                          <p:spTgt spid="9224"/>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9230"/>
                                        </p:tgtEl>
                                        <p:attrNameLst>
                                          <p:attrName>style.visibility</p:attrName>
                                        </p:attrNameLst>
                                      </p:cBhvr>
                                      <p:to>
                                        <p:strVal val="visible"/>
                                      </p:to>
                                    </p:set>
                                    <p:animEffect transition="in" filter="fade">
                                      <p:cBhvr>
                                        <p:cTn id="26" dur="1000"/>
                                        <p:tgtEl>
                                          <p:spTgt spid="9230"/>
                                        </p:tgtEl>
                                      </p:cBhvr>
                                    </p:animEffect>
                                    <p:anim calcmode="lin" valueType="num">
                                      <p:cBhvr>
                                        <p:cTn id="27" dur="1000" fill="hold"/>
                                        <p:tgtEl>
                                          <p:spTgt spid="9230"/>
                                        </p:tgtEl>
                                        <p:attrNameLst>
                                          <p:attrName>ppt_x</p:attrName>
                                        </p:attrNameLst>
                                      </p:cBhvr>
                                      <p:tavLst>
                                        <p:tav tm="0">
                                          <p:val>
                                            <p:strVal val="#ppt_x"/>
                                          </p:val>
                                        </p:tav>
                                        <p:tav tm="100000">
                                          <p:val>
                                            <p:strVal val="#ppt_x"/>
                                          </p:val>
                                        </p:tav>
                                      </p:tavLst>
                                    </p:anim>
                                    <p:anim calcmode="lin" valueType="num">
                                      <p:cBhvr>
                                        <p:cTn id="28" dur="1000" fill="hold"/>
                                        <p:tgtEl>
                                          <p:spTgt spid="9230"/>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9225"/>
                                        </p:tgtEl>
                                        <p:attrNameLst>
                                          <p:attrName>style.visibility</p:attrName>
                                        </p:attrNameLst>
                                      </p:cBhvr>
                                      <p:to>
                                        <p:strVal val="visible"/>
                                      </p:to>
                                    </p:set>
                                    <p:animEffect transition="in" filter="fade">
                                      <p:cBhvr>
                                        <p:cTn id="33" dur="1000"/>
                                        <p:tgtEl>
                                          <p:spTgt spid="9225"/>
                                        </p:tgtEl>
                                      </p:cBhvr>
                                    </p:animEffect>
                                    <p:anim calcmode="lin" valueType="num">
                                      <p:cBhvr>
                                        <p:cTn id="34" dur="1000" fill="hold"/>
                                        <p:tgtEl>
                                          <p:spTgt spid="9225"/>
                                        </p:tgtEl>
                                        <p:attrNameLst>
                                          <p:attrName>ppt_x</p:attrName>
                                        </p:attrNameLst>
                                      </p:cBhvr>
                                      <p:tavLst>
                                        <p:tav tm="0">
                                          <p:val>
                                            <p:strVal val="#ppt_x"/>
                                          </p:val>
                                        </p:tav>
                                        <p:tav tm="100000">
                                          <p:val>
                                            <p:strVal val="#ppt_x"/>
                                          </p:val>
                                        </p:tav>
                                      </p:tavLst>
                                    </p:anim>
                                    <p:anim calcmode="lin" valueType="num">
                                      <p:cBhvr>
                                        <p:cTn id="35" dur="1000" fill="hold"/>
                                        <p:tgtEl>
                                          <p:spTgt spid="9225"/>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226"/>
                                        </p:tgtEl>
                                        <p:attrNameLst>
                                          <p:attrName>style.visibility</p:attrName>
                                        </p:attrNameLst>
                                      </p:cBhvr>
                                      <p:to>
                                        <p:strVal val="visible"/>
                                      </p:to>
                                    </p:set>
                                    <p:animEffect transition="in" filter="fade">
                                      <p:cBhvr>
                                        <p:cTn id="38" dur="1000"/>
                                        <p:tgtEl>
                                          <p:spTgt spid="9226"/>
                                        </p:tgtEl>
                                      </p:cBhvr>
                                    </p:animEffect>
                                    <p:anim calcmode="lin" valueType="num">
                                      <p:cBhvr>
                                        <p:cTn id="39" dur="1000" fill="hold"/>
                                        <p:tgtEl>
                                          <p:spTgt spid="9226"/>
                                        </p:tgtEl>
                                        <p:attrNameLst>
                                          <p:attrName>ppt_x</p:attrName>
                                        </p:attrNameLst>
                                      </p:cBhvr>
                                      <p:tavLst>
                                        <p:tav tm="0">
                                          <p:val>
                                            <p:strVal val="#ppt_x"/>
                                          </p:val>
                                        </p:tav>
                                        <p:tav tm="100000">
                                          <p:val>
                                            <p:strVal val="#ppt_x"/>
                                          </p:val>
                                        </p:tav>
                                      </p:tavLst>
                                    </p:anim>
                                    <p:anim calcmode="lin" valueType="num">
                                      <p:cBhvr>
                                        <p:cTn id="40" dur="1000" fill="hold"/>
                                        <p:tgtEl>
                                          <p:spTgt spid="922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229"/>
                                        </p:tgtEl>
                                        <p:attrNameLst>
                                          <p:attrName>style.visibility</p:attrName>
                                        </p:attrNameLst>
                                      </p:cBhvr>
                                      <p:to>
                                        <p:strVal val="visible"/>
                                      </p:to>
                                    </p:set>
                                    <p:animEffect transition="in" filter="fade">
                                      <p:cBhvr>
                                        <p:cTn id="43" dur="1000"/>
                                        <p:tgtEl>
                                          <p:spTgt spid="9229"/>
                                        </p:tgtEl>
                                      </p:cBhvr>
                                    </p:animEffect>
                                    <p:anim calcmode="lin" valueType="num">
                                      <p:cBhvr>
                                        <p:cTn id="44" dur="1000" fill="hold"/>
                                        <p:tgtEl>
                                          <p:spTgt spid="9229"/>
                                        </p:tgtEl>
                                        <p:attrNameLst>
                                          <p:attrName>ppt_x</p:attrName>
                                        </p:attrNameLst>
                                      </p:cBhvr>
                                      <p:tavLst>
                                        <p:tav tm="0">
                                          <p:val>
                                            <p:strVal val="#ppt_x"/>
                                          </p:val>
                                        </p:tav>
                                        <p:tav tm="100000">
                                          <p:val>
                                            <p:strVal val="#ppt_x"/>
                                          </p:val>
                                        </p:tav>
                                      </p:tavLst>
                                    </p:anim>
                                    <p:anim calcmode="lin" valueType="num">
                                      <p:cBhvr>
                                        <p:cTn id="45" dur="1000" fill="hold"/>
                                        <p:tgtEl>
                                          <p:spTgt spid="9229"/>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9228"/>
                                        </p:tgtEl>
                                        <p:attrNameLst>
                                          <p:attrName>style.visibility</p:attrName>
                                        </p:attrNameLst>
                                      </p:cBhvr>
                                      <p:to>
                                        <p:strVal val="visible"/>
                                      </p:to>
                                    </p:set>
                                    <p:animEffect transition="in" filter="fade">
                                      <p:cBhvr>
                                        <p:cTn id="48" dur="1000"/>
                                        <p:tgtEl>
                                          <p:spTgt spid="9228"/>
                                        </p:tgtEl>
                                      </p:cBhvr>
                                    </p:animEffect>
                                    <p:anim calcmode="lin" valueType="num">
                                      <p:cBhvr>
                                        <p:cTn id="49" dur="1000" fill="hold"/>
                                        <p:tgtEl>
                                          <p:spTgt spid="9228"/>
                                        </p:tgtEl>
                                        <p:attrNameLst>
                                          <p:attrName>ppt_x</p:attrName>
                                        </p:attrNameLst>
                                      </p:cBhvr>
                                      <p:tavLst>
                                        <p:tav tm="0">
                                          <p:val>
                                            <p:strVal val="#ppt_x"/>
                                          </p:val>
                                        </p:tav>
                                        <p:tav tm="100000">
                                          <p:val>
                                            <p:strVal val="#ppt_x"/>
                                          </p:val>
                                        </p:tav>
                                      </p:tavLst>
                                    </p:anim>
                                    <p:anim calcmode="lin" valueType="num">
                                      <p:cBhvr>
                                        <p:cTn id="50" dur="1000" fill="hold"/>
                                        <p:tgtEl>
                                          <p:spTgt spid="9228"/>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9227"/>
                                        </p:tgtEl>
                                        <p:attrNameLst>
                                          <p:attrName>style.visibility</p:attrName>
                                        </p:attrNameLst>
                                      </p:cBhvr>
                                      <p:to>
                                        <p:strVal val="visible"/>
                                      </p:to>
                                    </p:set>
                                    <p:animEffect transition="in" filter="fade">
                                      <p:cBhvr>
                                        <p:cTn id="53" dur="1000"/>
                                        <p:tgtEl>
                                          <p:spTgt spid="9227"/>
                                        </p:tgtEl>
                                      </p:cBhvr>
                                    </p:animEffect>
                                    <p:anim calcmode="lin" valueType="num">
                                      <p:cBhvr>
                                        <p:cTn id="54" dur="1000" fill="hold"/>
                                        <p:tgtEl>
                                          <p:spTgt spid="9227"/>
                                        </p:tgtEl>
                                        <p:attrNameLst>
                                          <p:attrName>ppt_x</p:attrName>
                                        </p:attrNameLst>
                                      </p:cBhvr>
                                      <p:tavLst>
                                        <p:tav tm="0">
                                          <p:val>
                                            <p:strVal val="#ppt_x"/>
                                          </p:val>
                                        </p:tav>
                                        <p:tav tm="100000">
                                          <p:val>
                                            <p:strVal val="#ppt_x"/>
                                          </p:val>
                                        </p:tav>
                                      </p:tavLst>
                                    </p:anim>
                                    <p:anim calcmode="lin" valueType="num">
                                      <p:cBhvr>
                                        <p:cTn id="55" dur="1000" fill="hold"/>
                                        <p:tgtEl>
                                          <p:spTgt spid="9227"/>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9231"/>
                                        </p:tgtEl>
                                        <p:attrNameLst>
                                          <p:attrName>style.visibility</p:attrName>
                                        </p:attrNameLst>
                                      </p:cBhvr>
                                      <p:to>
                                        <p:strVal val="visible"/>
                                      </p:to>
                                    </p:set>
                                    <p:animEffect transition="in" filter="fade">
                                      <p:cBhvr>
                                        <p:cTn id="58" dur="1000"/>
                                        <p:tgtEl>
                                          <p:spTgt spid="9231"/>
                                        </p:tgtEl>
                                      </p:cBhvr>
                                    </p:animEffect>
                                    <p:anim calcmode="lin" valueType="num">
                                      <p:cBhvr>
                                        <p:cTn id="59" dur="1000" fill="hold"/>
                                        <p:tgtEl>
                                          <p:spTgt spid="9231"/>
                                        </p:tgtEl>
                                        <p:attrNameLst>
                                          <p:attrName>ppt_x</p:attrName>
                                        </p:attrNameLst>
                                      </p:cBhvr>
                                      <p:tavLst>
                                        <p:tav tm="0">
                                          <p:val>
                                            <p:strVal val="#ppt_x"/>
                                          </p:val>
                                        </p:tav>
                                        <p:tav tm="100000">
                                          <p:val>
                                            <p:strVal val="#ppt_x"/>
                                          </p:val>
                                        </p:tav>
                                      </p:tavLst>
                                    </p:anim>
                                    <p:anim calcmode="lin" valueType="num">
                                      <p:cBhvr>
                                        <p:cTn id="60" dur="1000" fill="hold"/>
                                        <p:tgtEl>
                                          <p:spTgt spid="9231"/>
                                        </p:tgtEl>
                                        <p:attrNameLst>
                                          <p:attrName>ppt_y</p:attrName>
                                        </p:attrNameLst>
                                      </p:cBhvr>
                                      <p:tavLst>
                                        <p:tav tm="0">
                                          <p:val>
                                            <p:strVal val="#ppt_y+.1"/>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14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animBg="1"/>
      <p:bldP spid="9222" grpId="0" animBg="1"/>
      <p:bldP spid="9223" grpId="0" animBg="1"/>
      <p:bldP spid="9224" grpId="0" animBg="1"/>
      <p:bldP spid="9225" grpId="0" animBg="1"/>
      <p:bldP spid="9226" grpId="0" animBg="1"/>
      <p:bldP spid="9227" grpId="0" animBg="1"/>
      <p:bldP spid="9228" grpId="0" animBg="1"/>
      <p:bldP spid="9229" grpId="0" animBg="1"/>
      <p:bldP spid="9230" grpId="0"/>
      <p:bldP spid="9231" grpId="0"/>
      <p:bldP spid="6146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idx="1"/>
          </p:nvPr>
        </p:nvSpPr>
        <p:spPr>
          <a:xfrm>
            <a:off x="457200" y="1624013"/>
            <a:ext cx="8229600" cy="4525962"/>
          </a:xfrm>
        </p:spPr>
        <p:txBody>
          <a:bodyPr/>
          <a:lstStyle/>
          <a:p>
            <a:pPr>
              <a:buFont typeface="Arial" charset="0"/>
              <a:buNone/>
            </a:pPr>
            <a:r>
              <a:rPr lang="es-ES"/>
              <a:t>	 </a:t>
            </a:r>
          </a:p>
        </p:txBody>
      </p:sp>
      <p:sp>
        <p:nvSpPr>
          <p:cNvPr id="5" name="4 Marcador de pie de página"/>
          <p:cNvSpPr>
            <a:spLocks noGrp="1"/>
          </p:cNvSpPr>
          <p:nvPr>
            <p:ph type="ftr" sz="quarter" idx="11"/>
          </p:nvPr>
        </p:nvSpPr>
        <p:spPr/>
        <p:txBody>
          <a:bodyPr/>
          <a:lstStyle/>
          <a:p>
            <a:pPr>
              <a:defRPr/>
            </a:pPr>
            <a:r>
              <a:rPr lang="es-ES"/>
              <a:t>Lic. Claudio Godio - FAIN</a:t>
            </a:r>
          </a:p>
        </p:txBody>
      </p:sp>
      <p:sp>
        <p:nvSpPr>
          <p:cNvPr id="6" name="5 Marcador de número de diapositiva"/>
          <p:cNvSpPr>
            <a:spLocks noGrp="1"/>
          </p:cNvSpPr>
          <p:nvPr>
            <p:ph type="sldNum" sz="quarter" idx="12"/>
          </p:nvPr>
        </p:nvSpPr>
        <p:spPr/>
        <p:txBody>
          <a:bodyPr/>
          <a:lstStyle/>
          <a:p>
            <a:pPr>
              <a:defRPr/>
            </a:pPr>
            <a:fld id="{9FEF4980-7242-4A31-A9F4-A64A272249B4}" type="slidenum">
              <a:rPr lang="es-ES" smtClean="0"/>
              <a:pPr>
                <a:defRPr/>
              </a:pPr>
              <a:t>6</a:t>
            </a:fld>
            <a:endParaRPr lang="es-ES"/>
          </a:p>
        </p:txBody>
      </p:sp>
      <p:sp>
        <p:nvSpPr>
          <p:cNvPr id="10244" name="Text Box 4"/>
          <p:cNvSpPr txBox="1">
            <a:spLocks noChangeArrowheads="1"/>
          </p:cNvSpPr>
          <p:nvPr/>
        </p:nvSpPr>
        <p:spPr bwMode="auto">
          <a:xfrm>
            <a:off x="-12700" y="396875"/>
            <a:ext cx="9156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 sz="2400" b="1" dirty="0">
                <a:solidFill>
                  <a:schemeClr val="tx2"/>
                </a:solidFill>
                <a:latin typeface="Verdana" pitchFamily="34" charset="0"/>
              </a:rPr>
              <a:t>Comunicación entre Objetos</a:t>
            </a:r>
          </a:p>
        </p:txBody>
      </p:sp>
      <p:sp>
        <p:nvSpPr>
          <p:cNvPr id="10245" name="AutoShape 6"/>
          <p:cNvSpPr>
            <a:spLocks noChangeArrowheads="1"/>
          </p:cNvSpPr>
          <p:nvPr/>
        </p:nvSpPr>
        <p:spPr bwMode="auto">
          <a:xfrm>
            <a:off x="523875" y="2205038"/>
            <a:ext cx="2879725" cy="3013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10246" name="Rectangle 7"/>
          <p:cNvSpPr>
            <a:spLocks noChangeArrowheads="1"/>
          </p:cNvSpPr>
          <p:nvPr/>
        </p:nvSpPr>
        <p:spPr bwMode="auto">
          <a:xfrm>
            <a:off x="1614488" y="4006850"/>
            <a:ext cx="620712" cy="2746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47" name="Rectangle 8"/>
          <p:cNvSpPr>
            <a:spLocks noChangeArrowheads="1"/>
          </p:cNvSpPr>
          <p:nvPr/>
        </p:nvSpPr>
        <p:spPr bwMode="auto">
          <a:xfrm>
            <a:off x="1676400" y="3213100"/>
            <a:ext cx="620713" cy="2746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48" name="Rectangle 9"/>
          <p:cNvSpPr>
            <a:spLocks noChangeArrowheads="1"/>
          </p:cNvSpPr>
          <p:nvPr/>
        </p:nvSpPr>
        <p:spPr bwMode="auto">
          <a:xfrm>
            <a:off x="1316038" y="3644900"/>
            <a:ext cx="620712" cy="2746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49" name="Oval 10"/>
          <p:cNvSpPr>
            <a:spLocks noChangeArrowheads="1"/>
          </p:cNvSpPr>
          <p:nvPr/>
        </p:nvSpPr>
        <p:spPr bwMode="auto">
          <a:xfrm>
            <a:off x="1163638" y="2559050"/>
            <a:ext cx="450850" cy="49371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50" name="Oval 11"/>
          <p:cNvSpPr>
            <a:spLocks noChangeArrowheads="1"/>
          </p:cNvSpPr>
          <p:nvPr/>
        </p:nvSpPr>
        <p:spPr bwMode="auto">
          <a:xfrm>
            <a:off x="668338" y="3644900"/>
            <a:ext cx="450850" cy="49371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51" name="Oval 12"/>
          <p:cNvSpPr>
            <a:spLocks noChangeArrowheads="1"/>
          </p:cNvSpPr>
          <p:nvPr/>
        </p:nvSpPr>
        <p:spPr bwMode="auto">
          <a:xfrm>
            <a:off x="2540000" y="2852738"/>
            <a:ext cx="450850" cy="4937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52" name="Oval 13"/>
          <p:cNvSpPr>
            <a:spLocks noChangeArrowheads="1"/>
          </p:cNvSpPr>
          <p:nvPr/>
        </p:nvSpPr>
        <p:spPr bwMode="auto">
          <a:xfrm>
            <a:off x="2611438" y="4003675"/>
            <a:ext cx="450850" cy="49371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53" name="Oval 14"/>
          <p:cNvSpPr>
            <a:spLocks noChangeArrowheads="1"/>
          </p:cNvSpPr>
          <p:nvPr/>
        </p:nvSpPr>
        <p:spPr bwMode="auto">
          <a:xfrm>
            <a:off x="1803400" y="4556125"/>
            <a:ext cx="450850" cy="49371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54" name="AutoShape 15"/>
          <p:cNvSpPr>
            <a:spLocks noChangeArrowheads="1"/>
          </p:cNvSpPr>
          <p:nvPr/>
        </p:nvSpPr>
        <p:spPr bwMode="auto">
          <a:xfrm>
            <a:off x="5702300" y="2276475"/>
            <a:ext cx="2879725" cy="2941638"/>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10255" name="Rectangle 16"/>
          <p:cNvSpPr>
            <a:spLocks noChangeArrowheads="1"/>
          </p:cNvSpPr>
          <p:nvPr/>
        </p:nvSpPr>
        <p:spPr bwMode="auto">
          <a:xfrm>
            <a:off x="6811963" y="3830638"/>
            <a:ext cx="620712" cy="2746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56" name="Rectangle 17"/>
          <p:cNvSpPr>
            <a:spLocks noChangeArrowheads="1"/>
          </p:cNvSpPr>
          <p:nvPr/>
        </p:nvSpPr>
        <p:spPr bwMode="auto">
          <a:xfrm>
            <a:off x="6797675" y="3267075"/>
            <a:ext cx="620713" cy="2746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57" name="Oval 20"/>
          <p:cNvSpPr>
            <a:spLocks noChangeArrowheads="1"/>
          </p:cNvSpPr>
          <p:nvPr/>
        </p:nvSpPr>
        <p:spPr bwMode="auto">
          <a:xfrm>
            <a:off x="5962650" y="3052763"/>
            <a:ext cx="450850" cy="4937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58" name="Oval 21"/>
          <p:cNvSpPr>
            <a:spLocks noChangeArrowheads="1"/>
          </p:cNvSpPr>
          <p:nvPr/>
        </p:nvSpPr>
        <p:spPr bwMode="auto">
          <a:xfrm>
            <a:off x="7718425" y="2781300"/>
            <a:ext cx="450850" cy="49371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10259" name="Oval 23"/>
          <p:cNvSpPr>
            <a:spLocks noChangeArrowheads="1"/>
          </p:cNvSpPr>
          <p:nvPr/>
        </p:nvSpPr>
        <p:spPr bwMode="auto">
          <a:xfrm>
            <a:off x="6916738" y="4614863"/>
            <a:ext cx="450850" cy="4937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62493" name="AutoShape 29"/>
          <p:cNvSpPr>
            <a:spLocks noChangeArrowheads="1"/>
          </p:cNvSpPr>
          <p:nvPr/>
        </p:nvSpPr>
        <p:spPr bwMode="auto">
          <a:xfrm>
            <a:off x="3344863" y="2760663"/>
            <a:ext cx="2441575" cy="184150"/>
          </a:xfrm>
          <a:prstGeom prst="rightArrow">
            <a:avLst>
              <a:gd name="adj1" fmla="val 64611"/>
              <a:gd name="adj2" fmla="val 16100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s-AR"/>
          </a:p>
        </p:txBody>
      </p:sp>
      <p:sp>
        <p:nvSpPr>
          <p:cNvPr id="62494" name="Text Box 30"/>
          <p:cNvSpPr txBox="1">
            <a:spLocks noChangeArrowheads="1"/>
          </p:cNvSpPr>
          <p:nvPr/>
        </p:nvSpPr>
        <p:spPr bwMode="auto">
          <a:xfrm>
            <a:off x="-12700" y="5614988"/>
            <a:ext cx="91567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s-ES" sz="6000" b="1" i="1" dirty="0">
                <a:solidFill>
                  <a:srgbClr val="800000"/>
                </a:solidFill>
                <a:latin typeface="Verdana" pitchFamily="34" charset="0"/>
              </a:rPr>
              <a:t>Métodos</a:t>
            </a:r>
          </a:p>
        </p:txBody>
      </p:sp>
      <p:sp>
        <p:nvSpPr>
          <p:cNvPr id="10263" name="1 CuadroTexto"/>
          <p:cNvSpPr txBox="1">
            <a:spLocks noChangeArrowheads="1"/>
          </p:cNvSpPr>
          <p:nvPr/>
        </p:nvSpPr>
        <p:spPr bwMode="auto">
          <a:xfrm>
            <a:off x="768350" y="1844675"/>
            <a:ext cx="2249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AR" b="1"/>
              <a:t>Objeto A</a:t>
            </a:r>
          </a:p>
        </p:txBody>
      </p:sp>
      <p:sp>
        <p:nvSpPr>
          <p:cNvPr id="10264" name="25 CuadroTexto"/>
          <p:cNvSpPr txBox="1">
            <a:spLocks noChangeArrowheads="1"/>
          </p:cNvSpPr>
          <p:nvPr/>
        </p:nvSpPr>
        <p:spPr bwMode="auto">
          <a:xfrm>
            <a:off x="5943600" y="1933575"/>
            <a:ext cx="2251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AR" b="1"/>
              <a:t>Objeto B</a:t>
            </a:r>
          </a:p>
        </p:txBody>
      </p:sp>
      <p:sp>
        <p:nvSpPr>
          <p:cNvPr id="4" name="3 CuadroTexto"/>
          <p:cNvSpPr txBox="1"/>
          <p:nvPr/>
        </p:nvSpPr>
        <p:spPr>
          <a:xfrm>
            <a:off x="2836863" y="1471613"/>
            <a:ext cx="3576637" cy="1016000"/>
          </a:xfrm>
          <a:prstGeom prst="rect">
            <a:avLst/>
          </a:prstGeom>
          <a:noFill/>
        </p:spPr>
        <p:txBody>
          <a:bodyPr>
            <a:spAutoFit/>
          </a:bodyPr>
          <a:lstStyle/>
          <a:p>
            <a:pPr algn="ctr">
              <a:defRPr/>
            </a:pPr>
            <a:r>
              <a:rPr lang="es-AR" sz="2000" b="1" dirty="0">
                <a:solidFill>
                  <a:schemeClr val="tx2">
                    <a:lumMod val="75000"/>
                  </a:schemeClr>
                </a:solidFill>
              </a:rPr>
              <a:t>A le pide a B que haga algo</a:t>
            </a:r>
          </a:p>
          <a:p>
            <a:pPr algn="ctr">
              <a:defRPr/>
            </a:pPr>
            <a:r>
              <a:rPr lang="es-AR" sz="2000" b="1" dirty="0">
                <a:solidFill>
                  <a:schemeClr val="tx2">
                    <a:lumMod val="75000"/>
                  </a:schemeClr>
                </a:solidFill>
              </a:rPr>
              <a:t>es decir </a:t>
            </a:r>
          </a:p>
          <a:p>
            <a:pPr algn="ctr">
              <a:defRPr/>
            </a:pPr>
            <a:r>
              <a:rPr lang="es-AR" sz="2000" b="1" dirty="0">
                <a:solidFill>
                  <a:srgbClr val="FF3300"/>
                </a:solidFill>
              </a:rPr>
              <a:t>“A invoca un método de B”</a:t>
            </a:r>
          </a:p>
        </p:txBody>
      </p:sp>
      <p:sp>
        <p:nvSpPr>
          <p:cNvPr id="34" name="33 CuadroTexto"/>
          <p:cNvSpPr txBox="1"/>
          <p:nvPr/>
        </p:nvSpPr>
        <p:spPr>
          <a:xfrm>
            <a:off x="2586038" y="4614863"/>
            <a:ext cx="3935412" cy="708025"/>
          </a:xfrm>
          <a:prstGeom prst="rect">
            <a:avLst/>
          </a:prstGeom>
          <a:noFill/>
        </p:spPr>
        <p:txBody>
          <a:bodyPr>
            <a:spAutoFit/>
          </a:bodyPr>
          <a:lstStyle/>
          <a:p>
            <a:pPr algn="ctr">
              <a:defRPr/>
            </a:pPr>
            <a:r>
              <a:rPr lang="es-AR" sz="2000" b="1" dirty="0">
                <a:solidFill>
                  <a:schemeClr val="tx2">
                    <a:lumMod val="75000"/>
                  </a:schemeClr>
                </a:solidFill>
              </a:rPr>
              <a:t>Esta </a:t>
            </a:r>
            <a:r>
              <a:rPr lang="es-AR" sz="2000" b="1" dirty="0">
                <a:solidFill>
                  <a:srgbClr val="FF0000"/>
                </a:solidFill>
              </a:rPr>
              <a:t>“invocación”</a:t>
            </a:r>
          </a:p>
          <a:p>
            <a:pPr algn="ctr">
              <a:defRPr/>
            </a:pPr>
            <a:r>
              <a:rPr lang="es-AR" sz="2000" b="1" dirty="0">
                <a:solidFill>
                  <a:schemeClr val="tx2">
                    <a:lumMod val="75000"/>
                  </a:schemeClr>
                </a:solidFill>
              </a:rPr>
              <a:t>Puede o no tener parámetros</a:t>
            </a:r>
            <a:endParaRPr lang="es-AR" sz="2000" b="1"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 calcmode="lin" valueType="num">
                                      <p:cBhvr>
                                        <p:cTn id="7" dur="500" fill="hold"/>
                                        <p:tgtEl>
                                          <p:spTgt spid="10245"/>
                                        </p:tgtEl>
                                        <p:attrNameLst>
                                          <p:attrName>ppt_w</p:attrName>
                                        </p:attrNameLst>
                                      </p:cBhvr>
                                      <p:tavLst>
                                        <p:tav tm="0">
                                          <p:val>
                                            <p:fltVal val="0"/>
                                          </p:val>
                                        </p:tav>
                                        <p:tav tm="100000">
                                          <p:val>
                                            <p:strVal val="#ppt_w"/>
                                          </p:val>
                                        </p:tav>
                                      </p:tavLst>
                                    </p:anim>
                                    <p:anim calcmode="lin" valueType="num">
                                      <p:cBhvr>
                                        <p:cTn id="8" dur="500" fill="hold"/>
                                        <p:tgtEl>
                                          <p:spTgt spid="10245"/>
                                        </p:tgtEl>
                                        <p:attrNameLst>
                                          <p:attrName>ppt_h</p:attrName>
                                        </p:attrNameLst>
                                      </p:cBhvr>
                                      <p:tavLst>
                                        <p:tav tm="0">
                                          <p:val>
                                            <p:fltVal val="0"/>
                                          </p:val>
                                        </p:tav>
                                        <p:tav tm="100000">
                                          <p:val>
                                            <p:strVal val="#ppt_h"/>
                                          </p:val>
                                        </p:tav>
                                      </p:tavLst>
                                    </p:anim>
                                    <p:animEffect transition="in" filter="fade">
                                      <p:cBhvr>
                                        <p:cTn id="9" dur="500"/>
                                        <p:tgtEl>
                                          <p:spTgt spid="1024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263"/>
                                        </p:tgtEl>
                                        <p:attrNameLst>
                                          <p:attrName>style.visibility</p:attrName>
                                        </p:attrNameLst>
                                      </p:cBhvr>
                                      <p:to>
                                        <p:strVal val="visible"/>
                                      </p:to>
                                    </p:set>
                                    <p:anim calcmode="lin" valueType="num">
                                      <p:cBhvr>
                                        <p:cTn id="12" dur="500" fill="hold"/>
                                        <p:tgtEl>
                                          <p:spTgt spid="10263"/>
                                        </p:tgtEl>
                                        <p:attrNameLst>
                                          <p:attrName>ppt_w</p:attrName>
                                        </p:attrNameLst>
                                      </p:cBhvr>
                                      <p:tavLst>
                                        <p:tav tm="0">
                                          <p:val>
                                            <p:fltVal val="0"/>
                                          </p:val>
                                        </p:tav>
                                        <p:tav tm="100000">
                                          <p:val>
                                            <p:strVal val="#ppt_w"/>
                                          </p:val>
                                        </p:tav>
                                      </p:tavLst>
                                    </p:anim>
                                    <p:anim calcmode="lin" valueType="num">
                                      <p:cBhvr>
                                        <p:cTn id="13" dur="500" fill="hold"/>
                                        <p:tgtEl>
                                          <p:spTgt spid="10263"/>
                                        </p:tgtEl>
                                        <p:attrNameLst>
                                          <p:attrName>ppt_h</p:attrName>
                                        </p:attrNameLst>
                                      </p:cBhvr>
                                      <p:tavLst>
                                        <p:tav tm="0">
                                          <p:val>
                                            <p:fltVal val="0"/>
                                          </p:val>
                                        </p:tav>
                                        <p:tav tm="100000">
                                          <p:val>
                                            <p:strVal val="#ppt_h"/>
                                          </p:val>
                                        </p:tav>
                                      </p:tavLst>
                                    </p:anim>
                                    <p:animEffect transition="in" filter="fade">
                                      <p:cBhvr>
                                        <p:cTn id="14" dur="500"/>
                                        <p:tgtEl>
                                          <p:spTgt spid="1026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249"/>
                                        </p:tgtEl>
                                        <p:attrNameLst>
                                          <p:attrName>style.visibility</p:attrName>
                                        </p:attrNameLst>
                                      </p:cBhvr>
                                      <p:to>
                                        <p:strVal val="visible"/>
                                      </p:to>
                                    </p:set>
                                    <p:anim calcmode="lin" valueType="num">
                                      <p:cBhvr>
                                        <p:cTn id="17" dur="500" fill="hold"/>
                                        <p:tgtEl>
                                          <p:spTgt spid="10249"/>
                                        </p:tgtEl>
                                        <p:attrNameLst>
                                          <p:attrName>ppt_w</p:attrName>
                                        </p:attrNameLst>
                                      </p:cBhvr>
                                      <p:tavLst>
                                        <p:tav tm="0">
                                          <p:val>
                                            <p:fltVal val="0"/>
                                          </p:val>
                                        </p:tav>
                                        <p:tav tm="100000">
                                          <p:val>
                                            <p:strVal val="#ppt_w"/>
                                          </p:val>
                                        </p:tav>
                                      </p:tavLst>
                                    </p:anim>
                                    <p:anim calcmode="lin" valueType="num">
                                      <p:cBhvr>
                                        <p:cTn id="18" dur="500" fill="hold"/>
                                        <p:tgtEl>
                                          <p:spTgt spid="10249"/>
                                        </p:tgtEl>
                                        <p:attrNameLst>
                                          <p:attrName>ppt_h</p:attrName>
                                        </p:attrNameLst>
                                      </p:cBhvr>
                                      <p:tavLst>
                                        <p:tav tm="0">
                                          <p:val>
                                            <p:fltVal val="0"/>
                                          </p:val>
                                        </p:tav>
                                        <p:tav tm="100000">
                                          <p:val>
                                            <p:strVal val="#ppt_h"/>
                                          </p:val>
                                        </p:tav>
                                      </p:tavLst>
                                    </p:anim>
                                    <p:animEffect transition="in" filter="fade">
                                      <p:cBhvr>
                                        <p:cTn id="19" dur="500"/>
                                        <p:tgtEl>
                                          <p:spTgt spid="1024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251"/>
                                        </p:tgtEl>
                                        <p:attrNameLst>
                                          <p:attrName>style.visibility</p:attrName>
                                        </p:attrNameLst>
                                      </p:cBhvr>
                                      <p:to>
                                        <p:strVal val="visible"/>
                                      </p:to>
                                    </p:set>
                                    <p:anim calcmode="lin" valueType="num">
                                      <p:cBhvr>
                                        <p:cTn id="22" dur="500" fill="hold"/>
                                        <p:tgtEl>
                                          <p:spTgt spid="10251"/>
                                        </p:tgtEl>
                                        <p:attrNameLst>
                                          <p:attrName>ppt_w</p:attrName>
                                        </p:attrNameLst>
                                      </p:cBhvr>
                                      <p:tavLst>
                                        <p:tav tm="0">
                                          <p:val>
                                            <p:fltVal val="0"/>
                                          </p:val>
                                        </p:tav>
                                        <p:tav tm="100000">
                                          <p:val>
                                            <p:strVal val="#ppt_w"/>
                                          </p:val>
                                        </p:tav>
                                      </p:tavLst>
                                    </p:anim>
                                    <p:anim calcmode="lin" valueType="num">
                                      <p:cBhvr>
                                        <p:cTn id="23" dur="500" fill="hold"/>
                                        <p:tgtEl>
                                          <p:spTgt spid="10251"/>
                                        </p:tgtEl>
                                        <p:attrNameLst>
                                          <p:attrName>ppt_h</p:attrName>
                                        </p:attrNameLst>
                                      </p:cBhvr>
                                      <p:tavLst>
                                        <p:tav tm="0">
                                          <p:val>
                                            <p:fltVal val="0"/>
                                          </p:val>
                                        </p:tav>
                                        <p:tav tm="100000">
                                          <p:val>
                                            <p:strVal val="#ppt_h"/>
                                          </p:val>
                                        </p:tav>
                                      </p:tavLst>
                                    </p:anim>
                                    <p:animEffect transition="in" filter="fade">
                                      <p:cBhvr>
                                        <p:cTn id="24" dur="500"/>
                                        <p:tgtEl>
                                          <p:spTgt spid="10251"/>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247"/>
                                        </p:tgtEl>
                                        <p:attrNameLst>
                                          <p:attrName>style.visibility</p:attrName>
                                        </p:attrNameLst>
                                      </p:cBhvr>
                                      <p:to>
                                        <p:strVal val="visible"/>
                                      </p:to>
                                    </p:set>
                                    <p:anim calcmode="lin" valueType="num">
                                      <p:cBhvr>
                                        <p:cTn id="27" dur="500" fill="hold"/>
                                        <p:tgtEl>
                                          <p:spTgt spid="10247"/>
                                        </p:tgtEl>
                                        <p:attrNameLst>
                                          <p:attrName>ppt_w</p:attrName>
                                        </p:attrNameLst>
                                      </p:cBhvr>
                                      <p:tavLst>
                                        <p:tav tm="0">
                                          <p:val>
                                            <p:fltVal val="0"/>
                                          </p:val>
                                        </p:tav>
                                        <p:tav tm="100000">
                                          <p:val>
                                            <p:strVal val="#ppt_w"/>
                                          </p:val>
                                        </p:tav>
                                      </p:tavLst>
                                    </p:anim>
                                    <p:anim calcmode="lin" valueType="num">
                                      <p:cBhvr>
                                        <p:cTn id="28" dur="500" fill="hold"/>
                                        <p:tgtEl>
                                          <p:spTgt spid="10247"/>
                                        </p:tgtEl>
                                        <p:attrNameLst>
                                          <p:attrName>ppt_h</p:attrName>
                                        </p:attrNameLst>
                                      </p:cBhvr>
                                      <p:tavLst>
                                        <p:tav tm="0">
                                          <p:val>
                                            <p:fltVal val="0"/>
                                          </p:val>
                                        </p:tav>
                                        <p:tav tm="100000">
                                          <p:val>
                                            <p:strVal val="#ppt_h"/>
                                          </p:val>
                                        </p:tav>
                                      </p:tavLst>
                                    </p:anim>
                                    <p:animEffect transition="in" filter="fade">
                                      <p:cBhvr>
                                        <p:cTn id="29" dur="500"/>
                                        <p:tgtEl>
                                          <p:spTgt spid="1024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248"/>
                                        </p:tgtEl>
                                        <p:attrNameLst>
                                          <p:attrName>style.visibility</p:attrName>
                                        </p:attrNameLst>
                                      </p:cBhvr>
                                      <p:to>
                                        <p:strVal val="visible"/>
                                      </p:to>
                                    </p:set>
                                    <p:anim calcmode="lin" valueType="num">
                                      <p:cBhvr>
                                        <p:cTn id="32" dur="500" fill="hold"/>
                                        <p:tgtEl>
                                          <p:spTgt spid="10248"/>
                                        </p:tgtEl>
                                        <p:attrNameLst>
                                          <p:attrName>ppt_w</p:attrName>
                                        </p:attrNameLst>
                                      </p:cBhvr>
                                      <p:tavLst>
                                        <p:tav tm="0">
                                          <p:val>
                                            <p:fltVal val="0"/>
                                          </p:val>
                                        </p:tav>
                                        <p:tav tm="100000">
                                          <p:val>
                                            <p:strVal val="#ppt_w"/>
                                          </p:val>
                                        </p:tav>
                                      </p:tavLst>
                                    </p:anim>
                                    <p:anim calcmode="lin" valueType="num">
                                      <p:cBhvr>
                                        <p:cTn id="33" dur="500" fill="hold"/>
                                        <p:tgtEl>
                                          <p:spTgt spid="10248"/>
                                        </p:tgtEl>
                                        <p:attrNameLst>
                                          <p:attrName>ppt_h</p:attrName>
                                        </p:attrNameLst>
                                      </p:cBhvr>
                                      <p:tavLst>
                                        <p:tav tm="0">
                                          <p:val>
                                            <p:fltVal val="0"/>
                                          </p:val>
                                        </p:tav>
                                        <p:tav tm="100000">
                                          <p:val>
                                            <p:strVal val="#ppt_h"/>
                                          </p:val>
                                        </p:tav>
                                      </p:tavLst>
                                    </p:anim>
                                    <p:animEffect transition="in" filter="fade">
                                      <p:cBhvr>
                                        <p:cTn id="34" dur="500"/>
                                        <p:tgtEl>
                                          <p:spTgt spid="1024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0246"/>
                                        </p:tgtEl>
                                        <p:attrNameLst>
                                          <p:attrName>style.visibility</p:attrName>
                                        </p:attrNameLst>
                                      </p:cBhvr>
                                      <p:to>
                                        <p:strVal val="visible"/>
                                      </p:to>
                                    </p:set>
                                    <p:anim calcmode="lin" valueType="num">
                                      <p:cBhvr>
                                        <p:cTn id="37" dur="500" fill="hold"/>
                                        <p:tgtEl>
                                          <p:spTgt spid="10246"/>
                                        </p:tgtEl>
                                        <p:attrNameLst>
                                          <p:attrName>ppt_w</p:attrName>
                                        </p:attrNameLst>
                                      </p:cBhvr>
                                      <p:tavLst>
                                        <p:tav tm="0">
                                          <p:val>
                                            <p:fltVal val="0"/>
                                          </p:val>
                                        </p:tav>
                                        <p:tav tm="100000">
                                          <p:val>
                                            <p:strVal val="#ppt_w"/>
                                          </p:val>
                                        </p:tav>
                                      </p:tavLst>
                                    </p:anim>
                                    <p:anim calcmode="lin" valueType="num">
                                      <p:cBhvr>
                                        <p:cTn id="38" dur="500" fill="hold"/>
                                        <p:tgtEl>
                                          <p:spTgt spid="10246"/>
                                        </p:tgtEl>
                                        <p:attrNameLst>
                                          <p:attrName>ppt_h</p:attrName>
                                        </p:attrNameLst>
                                      </p:cBhvr>
                                      <p:tavLst>
                                        <p:tav tm="0">
                                          <p:val>
                                            <p:fltVal val="0"/>
                                          </p:val>
                                        </p:tav>
                                        <p:tav tm="100000">
                                          <p:val>
                                            <p:strVal val="#ppt_h"/>
                                          </p:val>
                                        </p:tav>
                                      </p:tavLst>
                                    </p:anim>
                                    <p:animEffect transition="in" filter="fade">
                                      <p:cBhvr>
                                        <p:cTn id="39" dur="500"/>
                                        <p:tgtEl>
                                          <p:spTgt spid="10246"/>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0252"/>
                                        </p:tgtEl>
                                        <p:attrNameLst>
                                          <p:attrName>style.visibility</p:attrName>
                                        </p:attrNameLst>
                                      </p:cBhvr>
                                      <p:to>
                                        <p:strVal val="visible"/>
                                      </p:to>
                                    </p:set>
                                    <p:anim calcmode="lin" valueType="num">
                                      <p:cBhvr>
                                        <p:cTn id="42" dur="500" fill="hold"/>
                                        <p:tgtEl>
                                          <p:spTgt spid="10252"/>
                                        </p:tgtEl>
                                        <p:attrNameLst>
                                          <p:attrName>ppt_w</p:attrName>
                                        </p:attrNameLst>
                                      </p:cBhvr>
                                      <p:tavLst>
                                        <p:tav tm="0">
                                          <p:val>
                                            <p:fltVal val="0"/>
                                          </p:val>
                                        </p:tav>
                                        <p:tav tm="100000">
                                          <p:val>
                                            <p:strVal val="#ppt_w"/>
                                          </p:val>
                                        </p:tav>
                                      </p:tavLst>
                                    </p:anim>
                                    <p:anim calcmode="lin" valueType="num">
                                      <p:cBhvr>
                                        <p:cTn id="43" dur="500" fill="hold"/>
                                        <p:tgtEl>
                                          <p:spTgt spid="10252"/>
                                        </p:tgtEl>
                                        <p:attrNameLst>
                                          <p:attrName>ppt_h</p:attrName>
                                        </p:attrNameLst>
                                      </p:cBhvr>
                                      <p:tavLst>
                                        <p:tav tm="0">
                                          <p:val>
                                            <p:fltVal val="0"/>
                                          </p:val>
                                        </p:tav>
                                        <p:tav tm="100000">
                                          <p:val>
                                            <p:strVal val="#ppt_h"/>
                                          </p:val>
                                        </p:tav>
                                      </p:tavLst>
                                    </p:anim>
                                    <p:animEffect transition="in" filter="fade">
                                      <p:cBhvr>
                                        <p:cTn id="44" dur="500"/>
                                        <p:tgtEl>
                                          <p:spTgt spid="1025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0253"/>
                                        </p:tgtEl>
                                        <p:attrNameLst>
                                          <p:attrName>style.visibility</p:attrName>
                                        </p:attrNameLst>
                                      </p:cBhvr>
                                      <p:to>
                                        <p:strVal val="visible"/>
                                      </p:to>
                                    </p:set>
                                    <p:anim calcmode="lin" valueType="num">
                                      <p:cBhvr>
                                        <p:cTn id="47" dur="500" fill="hold"/>
                                        <p:tgtEl>
                                          <p:spTgt spid="10253"/>
                                        </p:tgtEl>
                                        <p:attrNameLst>
                                          <p:attrName>ppt_w</p:attrName>
                                        </p:attrNameLst>
                                      </p:cBhvr>
                                      <p:tavLst>
                                        <p:tav tm="0">
                                          <p:val>
                                            <p:fltVal val="0"/>
                                          </p:val>
                                        </p:tav>
                                        <p:tav tm="100000">
                                          <p:val>
                                            <p:strVal val="#ppt_w"/>
                                          </p:val>
                                        </p:tav>
                                      </p:tavLst>
                                    </p:anim>
                                    <p:anim calcmode="lin" valueType="num">
                                      <p:cBhvr>
                                        <p:cTn id="48" dur="500" fill="hold"/>
                                        <p:tgtEl>
                                          <p:spTgt spid="10253"/>
                                        </p:tgtEl>
                                        <p:attrNameLst>
                                          <p:attrName>ppt_h</p:attrName>
                                        </p:attrNameLst>
                                      </p:cBhvr>
                                      <p:tavLst>
                                        <p:tav tm="0">
                                          <p:val>
                                            <p:fltVal val="0"/>
                                          </p:val>
                                        </p:tav>
                                        <p:tav tm="100000">
                                          <p:val>
                                            <p:strVal val="#ppt_h"/>
                                          </p:val>
                                        </p:tav>
                                      </p:tavLst>
                                    </p:anim>
                                    <p:animEffect transition="in" filter="fade">
                                      <p:cBhvr>
                                        <p:cTn id="49" dur="500"/>
                                        <p:tgtEl>
                                          <p:spTgt spid="1025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0250"/>
                                        </p:tgtEl>
                                        <p:attrNameLst>
                                          <p:attrName>style.visibility</p:attrName>
                                        </p:attrNameLst>
                                      </p:cBhvr>
                                      <p:to>
                                        <p:strVal val="visible"/>
                                      </p:to>
                                    </p:set>
                                    <p:anim calcmode="lin" valueType="num">
                                      <p:cBhvr>
                                        <p:cTn id="52" dur="500" fill="hold"/>
                                        <p:tgtEl>
                                          <p:spTgt spid="10250"/>
                                        </p:tgtEl>
                                        <p:attrNameLst>
                                          <p:attrName>ppt_w</p:attrName>
                                        </p:attrNameLst>
                                      </p:cBhvr>
                                      <p:tavLst>
                                        <p:tav tm="0">
                                          <p:val>
                                            <p:fltVal val="0"/>
                                          </p:val>
                                        </p:tav>
                                        <p:tav tm="100000">
                                          <p:val>
                                            <p:strVal val="#ppt_w"/>
                                          </p:val>
                                        </p:tav>
                                      </p:tavLst>
                                    </p:anim>
                                    <p:anim calcmode="lin" valueType="num">
                                      <p:cBhvr>
                                        <p:cTn id="53" dur="500" fill="hold"/>
                                        <p:tgtEl>
                                          <p:spTgt spid="10250"/>
                                        </p:tgtEl>
                                        <p:attrNameLst>
                                          <p:attrName>ppt_h</p:attrName>
                                        </p:attrNameLst>
                                      </p:cBhvr>
                                      <p:tavLst>
                                        <p:tav tm="0">
                                          <p:val>
                                            <p:fltVal val="0"/>
                                          </p:val>
                                        </p:tav>
                                        <p:tav tm="100000">
                                          <p:val>
                                            <p:strVal val="#ppt_h"/>
                                          </p:val>
                                        </p:tav>
                                      </p:tavLst>
                                    </p:anim>
                                    <p:animEffect transition="in" filter="fade">
                                      <p:cBhvr>
                                        <p:cTn id="54" dur="500"/>
                                        <p:tgtEl>
                                          <p:spTgt spid="10250"/>
                                        </p:tgtEl>
                                      </p:cBhvr>
                                    </p:animEffect>
                                  </p:childTnLst>
                                </p:cTn>
                              </p:par>
                              <p:par>
                                <p:cTn id="55" presetID="1" presetClass="entr" presetSubtype="0" fill="hold" grpId="0" nodeType="withEffect">
                                  <p:stCondLst>
                                    <p:cond delay="0"/>
                                  </p:stCondLst>
                                  <p:childTnLst>
                                    <p:set>
                                      <p:cBhvr>
                                        <p:cTn id="56" dur="1" fill="hold">
                                          <p:stCondLst>
                                            <p:cond delay="0"/>
                                          </p:stCondLst>
                                        </p:cTn>
                                        <p:tgtEl>
                                          <p:spTgt spid="62494"/>
                                        </p:tgtEl>
                                        <p:attrNameLst>
                                          <p:attrName>style.visibility</p:attrName>
                                        </p:attrNameLst>
                                      </p:cBhvr>
                                      <p:to>
                                        <p:strVal val="visible"/>
                                      </p:to>
                                    </p:set>
                                  </p:childTnLst>
                                </p:cTn>
                              </p:par>
                              <p:par>
                                <p:cTn id="57" presetID="53" presetClass="entr" presetSubtype="16" fill="hold" grpId="0" nodeType="withEffect">
                                  <p:stCondLst>
                                    <p:cond delay="0"/>
                                  </p:stCondLst>
                                  <p:childTnLst>
                                    <p:set>
                                      <p:cBhvr>
                                        <p:cTn id="58" dur="1" fill="hold">
                                          <p:stCondLst>
                                            <p:cond delay="0"/>
                                          </p:stCondLst>
                                        </p:cTn>
                                        <p:tgtEl>
                                          <p:spTgt spid="10264"/>
                                        </p:tgtEl>
                                        <p:attrNameLst>
                                          <p:attrName>style.visibility</p:attrName>
                                        </p:attrNameLst>
                                      </p:cBhvr>
                                      <p:to>
                                        <p:strVal val="visible"/>
                                      </p:to>
                                    </p:set>
                                    <p:anim calcmode="lin" valueType="num">
                                      <p:cBhvr>
                                        <p:cTn id="59" dur="500" fill="hold"/>
                                        <p:tgtEl>
                                          <p:spTgt spid="10264"/>
                                        </p:tgtEl>
                                        <p:attrNameLst>
                                          <p:attrName>ppt_w</p:attrName>
                                        </p:attrNameLst>
                                      </p:cBhvr>
                                      <p:tavLst>
                                        <p:tav tm="0">
                                          <p:val>
                                            <p:fltVal val="0"/>
                                          </p:val>
                                        </p:tav>
                                        <p:tav tm="100000">
                                          <p:val>
                                            <p:strVal val="#ppt_w"/>
                                          </p:val>
                                        </p:tav>
                                      </p:tavLst>
                                    </p:anim>
                                    <p:anim calcmode="lin" valueType="num">
                                      <p:cBhvr>
                                        <p:cTn id="60" dur="500" fill="hold"/>
                                        <p:tgtEl>
                                          <p:spTgt spid="10264"/>
                                        </p:tgtEl>
                                        <p:attrNameLst>
                                          <p:attrName>ppt_h</p:attrName>
                                        </p:attrNameLst>
                                      </p:cBhvr>
                                      <p:tavLst>
                                        <p:tav tm="0">
                                          <p:val>
                                            <p:fltVal val="0"/>
                                          </p:val>
                                        </p:tav>
                                        <p:tav tm="100000">
                                          <p:val>
                                            <p:strVal val="#ppt_h"/>
                                          </p:val>
                                        </p:tav>
                                      </p:tavLst>
                                    </p:anim>
                                    <p:animEffect transition="in" filter="fade">
                                      <p:cBhvr>
                                        <p:cTn id="61" dur="500"/>
                                        <p:tgtEl>
                                          <p:spTgt spid="10264"/>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0254"/>
                                        </p:tgtEl>
                                        <p:attrNameLst>
                                          <p:attrName>style.visibility</p:attrName>
                                        </p:attrNameLst>
                                      </p:cBhvr>
                                      <p:to>
                                        <p:strVal val="visible"/>
                                      </p:to>
                                    </p:set>
                                    <p:anim calcmode="lin" valueType="num">
                                      <p:cBhvr>
                                        <p:cTn id="64" dur="500" fill="hold"/>
                                        <p:tgtEl>
                                          <p:spTgt spid="10254"/>
                                        </p:tgtEl>
                                        <p:attrNameLst>
                                          <p:attrName>ppt_w</p:attrName>
                                        </p:attrNameLst>
                                      </p:cBhvr>
                                      <p:tavLst>
                                        <p:tav tm="0">
                                          <p:val>
                                            <p:fltVal val="0"/>
                                          </p:val>
                                        </p:tav>
                                        <p:tav tm="100000">
                                          <p:val>
                                            <p:strVal val="#ppt_w"/>
                                          </p:val>
                                        </p:tav>
                                      </p:tavLst>
                                    </p:anim>
                                    <p:anim calcmode="lin" valueType="num">
                                      <p:cBhvr>
                                        <p:cTn id="65" dur="500" fill="hold"/>
                                        <p:tgtEl>
                                          <p:spTgt spid="10254"/>
                                        </p:tgtEl>
                                        <p:attrNameLst>
                                          <p:attrName>ppt_h</p:attrName>
                                        </p:attrNameLst>
                                      </p:cBhvr>
                                      <p:tavLst>
                                        <p:tav tm="0">
                                          <p:val>
                                            <p:fltVal val="0"/>
                                          </p:val>
                                        </p:tav>
                                        <p:tav tm="100000">
                                          <p:val>
                                            <p:strVal val="#ppt_h"/>
                                          </p:val>
                                        </p:tav>
                                      </p:tavLst>
                                    </p:anim>
                                    <p:animEffect transition="in" filter="fade">
                                      <p:cBhvr>
                                        <p:cTn id="66" dur="500"/>
                                        <p:tgtEl>
                                          <p:spTgt spid="10254"/>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0258"/>
                                        </p:tgtEl>
                                        <p:attrNameLst>
                                          <p:attrName>style.visibility</p:attrName>
                                        </p:attrNameLst>
                                      </p:cBhvr>
                                      <p:to>
                                        <p:strVal val="visible"/>
                                      </p:to>
                                    </p:set>
                                    <p:anim calcmode="lin" valueType="num">
                                      <p:cBhvr>
                                        <p:cTn id="69" dur="500" fill="hold"/>
                                        <p:tgtEl>
                                          <p:spTgt spid="10258"/>
                                        </p:tgtEl>
                                        <p:attrNameLst>
                                          <p:attrName>ppt_w</p:attrName>
                                        </p:attrNameLst>
                                      </p:cBhvr>
                                      <p:tavLst>
                                        <p:tav tm="0">
                                          <p:val>
                                            <p:fltVal val="0"/>
                                          </p:val>
                                        </p:tav>
                                        <p:tav tm="100000">
                                          <p:val>
                                            <p:strVal val="#ppt_w"/>
                                          </p:val>
                                        </p:tav>
                                      </p:tavLst>
                                    </p:anim>
                                    <p:anim calcmode="lin" valueType="num">
                                      <p:cBhvr>
                                        <p:cTn id="70" dur="500" fill="hold"/>
                                        <p:tgtEl>
                                          <p:spTgt spid="10258"/>
                                        </p:tgtEl>
                                        <p:attrNameLst>
                                          <p:attrName>ppt_h</p:attrName>
                                        </p:attrNameLst>
                                      </p:cBhvr>
                                      <p:tavLst>
                                        <p:tav tm="0">
                                          <p:val>
                                            <p:fltVal val="0"/>
                                          </p:val>
                                        </p:tav>
                                        <p:tav tm="100000">
                                          <p:val>
                                            <p:strVal val="#ppt_h"/>
                                          </p:val>
                                        </p:tav>
                                      </p:tavLst>
                                    </p:anim>
                                    <p:animEffect transition="in" filter="fade">
                                      <p:cBhvr>
                                        <p:cTn id="71" dur="500"/>
                                        <p:tgtEl>
                                          <p:spTgt spid="10258"/>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0256"/>
                                        </p:tgtEl>
                                        <p:attrNameLst>
                                          <p:attrName>style.visibility</p:attrName>
                                        </p:attrNameLst>
                                      </p:cBhvr>
                                      <p:to>
                                        <p:strVal val="visible"/>
                                      </p:to>
                                    </p:set>
                                    <p:anim calcmode="lin" valueType="num">
                                      <p:cBhvr>
                                        <p:cTn id="74" dur="500" fill="hold"/>
                                        <p:tgtEl>
                                          <p:spTgt spid="10256"/>
                                        </p:tgtEl>
                                        <p:attrNameLst>
                                          <p:attrName>ppt_w</p:attrName>
                                        </p:attrNameLst>
                                      </p:cBhvr>
                                      <p:tavLst>
                                        <p:tav tm="0">
                                          <p:val>
                                            <p:fltVal val="0"/>
                                          </p:val>
                                        </p:tav>
                                        <p:tav tm="100000">
                                          <p:val>
                                            <p:strVal val="#ppt_w"/>
                                          </p:val>
                                        </p:tav>
                                      </p:tavLst>
                                    </p:anim>
                                    <p:anim calcmode="lin" valueType="num">
                                      <p:cBhvr>
                                        <p:cTn id="75" dur="500" fill="hold"/>
                                        <p:tgtEl>
                                          <p:spTgt spid="10256"/>
                                        </p:tgtEl>
                                        <p:attrNameLst>
                                          <p:attrName>ppt_h</p:attrName>
                                        </p:attrNameLst>
                                      </p:cBhvr>
                                      <p:tavLst>
                                        <p:tav tm="0">
                                          <p:val>
                                            <p:fltVal val="0"/>
                                          </p:val>
                                        </p:tav>
                                        <p:tav tm="100000">
                                          <p:val>
                                            <p:strVal val="#ppt_h"/>
                                          </p:val>
                                        </p:tav>
                                      </p:tavLst>
                                    </p:anim>
                                    <p:animEffect transition="in" filter="fade">
                                      <p:cBhvr>
                                        <p:cTn id="76" dur="500"/>
                                        <p:tgtEl>
                                          <p:spTgt spid="10256"/>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0257"/>
                                        </p:tgtEl>
                                        <p:attrNameLst>
                                          <p:attrName>style.visibility</p:attrName>
                                        </p:attrNameLst>
                                      </p:cBhvr>
                                      <p:to>
                                        <p:strVal val="visible"/>
                                      </p:to>
                                    </p:set>
                                    <p:anim calcmode="lin" valueType="num">
                                      <p:cBhvr>
                                        <p:cTn id="79" dur="500" fill="hold"/>
                                        <p:tgtEl>
                                          <p:spTgt spid="10257"/>
                                        </p:tgtEl>
                                        <p:attrNameLst>
                                          <p:attrName>ppt_w</p:attrName>
                                        </p:attrNameLst>
                                      </p:cBhvr>
                                      <p:tavLst>
                                        <p:tav tm="0">
                                          <p:val>
                                            <p:fltVal val="0"/>
                                          </p:val>
                                        </p:tav>
                                        <p:tav tm="100000">
                                          <p:val>
                                            <p:strVal val="#ppt_w"/>
                                          </p:val>
                                        </p:tav>
                                      </p:tavLst>
                                    </p:anim>
                                    <p:anim calcmode="lin" valueType="num">
                                      <p:cBhvr>
                                        <p:cTn id="80" dur="500" fill="hold"/>
                                        <p:tgtEl>
                                          <p:spTgt spid="10257"/>
                                        </p:tgtEl>
                                        <p:attrNameLst>
                                          <p:attrName>ppt_h</p:attrName>
                                        </p:attrNameLst>
                                      </p:cBhvr>
                                      <p:tavLst>
                                        <p:tav tm="0">
                                          <p:val>
                                            <p:fltVal val="0"/>
                                          </p:val>
                                        </p:tav>
                                        <p:tav tm="100000">
                                          <p:val>
                                            <p:strVal val="#ppt_h"/>
                                          </p:val>
                                        </p:tav>
                                      </p:tavLst>
                                    </p:anim>
                                    <p:animEffect transition="in" filter="fade">
                                      <p:cBhvr>
                                        <p:cTn id="81" dur="500"/>
                                        <p:tgtEl>
                                          <p:spTgt spid="10257"/>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0255"/>
                                        </p:tgtEl>
                                        <p:attrNameLst>
                                          <p:attrName>style.visibility</p:attrName>
                                        </p:attrNameLst>
                                      </p:cBhvr>
                                      <p:to>
                                        <p:strVal val="visible"/>
                                      </p:to>
                                    </p:set>
                                    <p:anim calcmode="lin" valueType="num">
                                      <p:cBhvr>
                                        <p:cTn id="84" dur="500" fill="hold"/>
                                        <p:tgtEl>
                                          <p:spTgt spid="10255"/>
                                        </p:tgtEl>
                                        <p:attrNameLst>
                                          <p:attrName>ppt_w</p:attrName>
                                        </p:attrNameLst>
                                      </p:cBhvr>
                                      <p:tavLst>
                                        <p:tav tm="0">
                                          <p:val>
                                            <p:fltVal val="0"/>
                                          </p:val>
                                        </p:tav>
                                        <p:tav tm="100000">
                                          <p:val>
                                            <p:strVal val="#ppt_w"/>
                                          </p:val>
                                        </p:tav>
                                      </p:tavLst>
                                    </p:anim>
                                    <p:anim calcmode="lin" valueType="num">
                                      <p:cBhvr>
                                        <p:cTn id="85" dur="500" fill="hold"/>
                                        <p:tgtEl>
                                          <p:spTgt spid="10255"/>
                                        </p:tgtEl>
                                        <p:attrNameLst>
                                          <p:attrName>ppt_h</p:attrName>
                                        </p:attrNameLst>
                                      </p:cBhvr>
                                      <p:tavLst>
                                        <p:tav tm="0">
                                          <p:val>
                                            <p:fltVal val="0"/>
                                          </p:val>
                                        </p:tav>
                                        <p:tav tm="100000">
                                          <p:val>
                                            <p:strVal val="#ppt_h"/>
                                          </p:val>
                                        </p:tav>
                                      </p:tavLst>
                                    </p:anim>
                                    <p:animEffect transition="in" filter="fade">
                                      <p:cBhvr>
                                        <p:cTn id="86" dur="500"/>
                                        <p:tgtEl>
                                          <p:spTgt spid="10255"/>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10259"/>
                                        </p:tgtEl>
                                        <p:attrNameLst>
                                          <p:attrName>style.visibility</p:attrName>
                                        </p:attrNameLst>
                                      </p:cBhvr>
                                      <p:to>
                                        <p:strVal val="visible"/>
                                      </p:to>
                                    </p:set>
                                    <p:anim calcmode="lin" valueType="num">
                                      <p:cBhvr>
                                        <p:cTn id="89" dur="500" fill="hold"/>
                                        <p:tgtEl>
                                          <p:spTgt spid="10259"/>
                                        </p:tgtEl>
                                        <p:attrNameLst>
                                          <p:attrName>ppt_w</p:attrName>
                                        </p:attrNameLst>
                                      </p:cBhvr>
                                      <p:tavLst>
                                        <p:tav tm="0">
                                          <p:val>
                                            <p:fltVal val="0"/>
                                          </p:val>
                                        </p:tav>
                                        <p:tav tm="100000">
                                          <p:val>
                                            <p:strVal val="#ppt_w"/>
                                          </p:val>
                                        </p:tav>
                                      </p:tavLst>
                                    </p:anim>
                                    <p:anim calcmode="lin" valueType="num">
                                      <p:cBhvr>
                                        <p:cTn id="90" dur="500" fill="hold"/>
                                        <p:tgtEl>
                                          <p:spTgt spid="10259"/>
                                        </p:tgtEl>
                                        <p:attrNameLst>
                                          <p:attrName>ppt_h</p:attrName>
                                        </p:attrNameLst>
                                      </p:cBhvr>
                                      <p:tavLst>
                                        <p:tav tm="0">
                                          <p:val>
                                            <p:fltVal val="0"/>
                                          </p:val>
                                        </p:tav>
                                        <p:tav tm="100000">
                                          <p:val>
                                            <p:strVal val="#ppt_h"/>
                                          </p:val>
                                        </p:tav>
                                      </p:tavLst>
                                    </p:anim>
                                    <p:animEffect transition="in" filter="fade">
                                      <p:cBhvr>
                                        <p:cTn id="91" dur="500"/>
                                        <p:tgtEl>
                                          <p:spTgt spid="1025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4"/>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62493"/>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nimBg="1"/>
      <p:bldP spid="10246" grpId="0" animBg="1"/>
      <p:bldP spid="10247" grpId="0" animBg="1"/>
      <p:bldP spid="10248" grpId="0" animBg="1"/>
      <p:bldP spid="10249" grpId="0" animBg="1"/>
      <p:bldP spid="10250" grpId="0" animBg="1"/>
      <p:bldP spid="10251" grpId="0" animBg="1"/>
      <p:bldP spid="10252" grpId="0" animBg="1"/>
      <p:bldP spid="10253" grpId="0" animBg="1"/>
      <p:bldP spid="10254" grpId="0" animBg="1"/>
      <p:bldP spid="10255" grpId="0" animBg="1"/>
      <p:bldP spid="10256" grpId="0" animBg="1"/>
      <p:bldP spid="10257" grpId="0" animBg="1"/>
      <p:bldP spid="10258" grpId="0" animBg="1"/>
      <p:bldP spid="10259" grpId="0" animBg="1"/>
      <p:bldP spid="62493" grpId="0" animBg="1"/>
      <p:bldP spid="62494" grpId="0"/>
      <p:bldP spid="10263" grpId="0"/>
      <p:bldP spid="10264" grpId="0"/>
      <p:bldP spid="4"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idx="1"/>
          </p:nvPr>
        </p:nvSpPr>
        <p:spPr/>
        <p:txBody>
          <a:bodyPr/>
          <a:lstStyle/>
          <a:p>
            <a:pPr>
              <a:buFont typeface="Arial" charset="0"/>
              <a:buNone/>
            </a:pPr>
            <a:r>
              <a:rPr lang="es-ES"/>
              <a:t>	 </a:t>
            </a:r>
          </a:p>
        </p:txBody>
      </p:sp>
      <p:sp>
        <p:nvSpPr>
          <p:cNvPr id="2" name="1 Marcador de pie de página"/>
          <p:cNvSpPr>
            <a:spLocks noGrp="1"/>
          </p:cNvSpPr>
          <p:nvPr>
            <p:ph type="ftr" sz="quarter" idx="11"/>
          </p:nvPr>
        </p:nvSpPr>
        <p:spPr/>
        <p:txBody>
          <a:bodyPr/>
          <a:lstStyle/>
          <a:p>
            <a:pPr>
              <a:defRPr/>
            </a:pPr>
            <a:r>
              <a:rPr lang="es-ES"/>
              <a:t>Lic. Claudio Godio - FAIN</a:t>
            </a:r>
          </a:p>
        </p:txBody>
      </p:sp>
      <p:sp>
        <p:nvSpPr>
          <p:cNvPr id="3" name="2 Marcador de número de diapositiva"/>
          <p:cNvSpPr>
            <a:spLocks noGrp="1"/>
          </p:cNvSpPr>
          <p:nvPr>
            <p:ph type="sldNum" sz="quarter" idx="12"/>
          </p:nvPr>
        </p:nvSpPr>
        <p:spPr/>
        <p:txBody>
          <a:bodyPr/>
          <a:lstStyle/>
          <a:p>
            <a:pPr>
              <a:defRPr/>
            </a:pPr>
            <a:fld id="{927F67AC-CF9F-4C47-9667-FCB6BF47EE61}" type="slidenum">
              <a:rPr lang="es-ES" smtClean="0"/>
              <a:pPr>
                <a:defRPr/>
              </a:pPr>
              <a:t>7</a:t>
            </a:fld>
            <a:endParaRPr lang="es-ES"/>
          </a:p>
        </p:txBody>
      </p:sp>
      <p:sp>
        <p:nvSpPr>
          <p:cNvPr id="8196" name="Text Box 4"/>
          <p:cNvSpPr txBox="1">
            <a:spLocks noChangeArrowheads="1"/>
          </p:cNvSpPr>
          <p:nvPr/>
        </p:nvSpPr>
        <p:spPr bwMode="auto">
          <a:xfrm>
            <a:off x="0" y="692018"/>
            <a:ext cx="914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 sz="2800" b="1" dirty="0">
                <a:solidFill>
                  <a:schemeClr val="tx2"/>
                </a:solidFill>
                <a:latin typeface="Verdana" pitchFamily="34" charset="0"/>
              </a:rPr>
              <a:t>Funcionamiento</a:t>
            </a:r>
          </a:p>
        </p:txBody>
      </p:sp>
      <p:sp>
        <p:nvSpPr>
          <p:cNvPr id="8197" name="Text Box 5"/>
          <p:cNvSpPr txBox="1">
            <a:spLocks noChangeArrowheads="1"/>
          </p:cNvSpPr>
          <p:nvPr/>
        </p:nvSpPr>
        <p:spPr bwMode="auto">
          <a:xfrm>
            <a:off x="609599" y="1800684"/>
            <a:ext cx="698477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ts val="1200"/>
              </a:spcBef>
              <a:spcAft>
                <a:spcPts val="1200"/>
              </a:spcAft>
              <a:buFont typeface="Wingdings" panose="05000000000000000000" pitchFamily="2" charset="2"/>
              <a:buChar char="Ø"/>
            </a:pPr>
            <a:r>
              <a:rPr lang="es-ES" sz="2000" dirty="0">
                <a:solidFill>
                  <a:srgbClr val="000099"/>
                </a:solidFill>
                <a:latin typeface="Verdana" pitchFamily="34" charset="0"/>
              </a:rPr>
              <a:t>En la orientación a objetos, las clases actúan como un plano para generar objetos</a:t>
            </a:r>
          </a:p>
          <a:p>
            <a:pPr algn="just" eaLnBrk="1" hangingPunct="1">
              <a:spcBef>
                <a:spcPts val="1200"/>
              </a:spcBef>
              <a:spcAft>
                <a:spcPts val="1200"/>
              </a:spcAft>
              <a:buFont typeface="Wingdings" panose="05000000000000000000" pitchFamily="2" charset="2"/>
              <a:buChar char="Ø"/>
            </a:pPr>
            <a:endParaRPr lang="es-ES" sz="2000" dirty="0">
              <a:solidFill>
                <a:srgbClr val="000099"/>
              </a:solidFill>
              <a:latin typeface="Verdana" pitchFamily="34" charset="0"/>
            </a:endParaRPr>
          </a:p>
          <a:p>
            <a:pPr algn="just" eaLnBrk="1" hangingPunct="1">
              <a:spcBef>
                <a:spcPts val="1200"/>
              </a:spcBef>
              <a:spcAft>
                <a:spcPts val="1200"/>
              </a:spcAft>
              <a:buFont typeface="Wingdings" panose="05000000000000000000" pitchFamily="2" charset="2"/>
              <a:buChar char="Ø"/>
            </a:pPr>
            <a:r>
              <a:rPr lang="es-ES" sz="2000" dirty="0">
                <a:solidFill>
                  <a:srgbClr val="000099"/>
                </a:solidFill>
                <a:latin typeface="Verdana" pitchFamily="34" charset="0"/>
              </a:rPr>
              <a:t>Una clase define la estructura de un tipo de objeto (datos + operaciones)</a:t>
            </a:r>
          </a:p>
          <a:p>
            <a:pPr algn="just" eaLnBrk="1" hangingPunct="1">
              <a:spcBef>
                <a:spcPts val="1200"/>
              </a:spcBef>
              <a:spcAft>
                <a:spcPts val="1200"/>
              </a:spcAft>
              <a:buFont typeface="Wingdings" panose="05000000000000000000" pitchFamily="2" charset="2"/>
              <a:buChar char="Ø"/>
            </a:pPr>
            <a:endParaRPr lang="es-ES" sz="2000" dirty="0">
              <a:solidFill>
                <a:srgbClr val="000099"/>
              </a:solidFill>
              <a:latin typeface="Verdana" pitchFamily="34" charset="0"/>
            </a:endParaRPr>
          </a:p>
          <a:p>
            <a:pPr algn="just" eaLnBrk="1" hangingPunct="1">
              <a:spcBef>
                <a:spcPts val="1200"/>
              </a:spcBef>
              <a:spcAft>
                <a:spcPts val="1200"/>
              </a:spcAft>
              <a:buFont typeface="Wingdings" panose="05000000000000000000" pitchFamily="2" charset="2"/>
              <a:buChar char="Ø"/>
            </a:pPr>
            <a:r>
              <a:rPr lang="es-ES" sz="2000" dirty="0">
                <a:solidFill>
                  <a:srgbClr val="000099"/>
                </a:solidFill>
                <a:latin typeface="Verdana" pitchFamily="34" charset="0"/>
              </a:rPr>
              <a:t>Las operaciones (o acciones) se conocen con el nombre de métodos.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p:cNvSpPr>
            <a:spLocks noGrp="1"/>
          </p:cNvSpPr>
          <p:nvPr>
            <p:ph type="title"/>
          </p:nvPr>
        </p:nvSpPr>
        <p:spPr>
          <a:xfrm>
            <a:off x="0" y="552318"/>
            <a:ext cx="9144000" cy="528638"/>
          </a:xfrm>
          <a:noFill/>
        </p:spPr>
        <p:txBody>
          <a:bodyPr>
            <a:normAutofit/>
          </a:bodyPr>
          <a:lstStyle/>
          <a:p>
            <a:pPr marL="0" algn="ctr">
              <a:defRPr/>
            </a:pPr>
            <a:r>
              <a:rPr lang="es-AR" sz="2400" b="1" dirty="0">
                <a:solidFill>
                  <a:schemeClr val="tx1"/>
                </a:solidFill>
                <a:latin typeface="Verdana" pitchFamily="34" charset="0"/>
                <a:ea typeface="Verdana" pitchFamily="34" charset="0"/>
                <a:cs typeface="Verdana" pitchFamily="34" charset="0"/>
              </a:rPr>
              <a:t>Abstracción </a:t>
            </a:r>
          </a:p>
        </p:txBody>
      </p:sp>
      <p:sp>
        <p:nvSpPr>
          <p:cNvPr id="2" name="1 Marcador de pie de página"/>
          <p:cNvSpPr>
            <a:spLocks noGrp="1"/>
          </p:cNvSpPr>
          <p:nvPr>
            <p:ph type="ftr" sz="quarter" idx="11"/>
          </p:nvPr>
        </p:nvSpPr>
        <p:spPr/>
        <p:txBody>
          <a:bodyPr/>
          <a:lstStyle/>
          <a:p>
            <a:pPr>
              <a:defRPr/>
            </a:pPr>
            <a:r>
              <a:rPr lang="es-ES"/>
              <a:t>Lic. Claudio Godio - FAIN</a:t>
            </a:r>
          </a:p>
        </p:txBody>
      </p:sp>
      <p:sp>
        <p:nvSpPr>
          <p:cNvPr id="3" name="2 Marcador de número de diapositiva"/>
          <p:cNvSpPr>
            <a:spLocks noGrp="1"/>
          </p:cNvSpPr>
          <p:nvPr>
            <p:ph type="sldNum" sz="quarter" idx="12"/>
          </p:nvPr>
        </p:nvSpPr>
        <p:spPr/>
        <p:txBody>
          <a:bodyPr/>
          <a:lstStyle/>
          <a:p>
            <a:pPr>
              <a:defRPr/>
            </a:pPr>
            <a:fld id="{23A12C53-787D-4BC0-99FA-5BAAC036A692}" type="slidenum">
              <a:rPr lang="es-ES" smtClean="0"/>
              <a:pPr>
                <a:defRPr/>
              </a:pPr>
              <a:t>8</a:t>
            </a:fld>
            <a:endParaRPr lang="es-ES"/>
          </a:p>
        </p:txBody>
      </p:sp>
      <p:sp>
        <p:nvSpPr>
          <p:cNvPr id="12291" name="Text Box 5"/>
          <p:cNvSpPr txBox="1">
            <a:spLocks noChangeArrowheads="1"/>
          </p:cNvSpPr>
          <p:nvPr/>
        </p:nvSpPr>
        <p:spPr bwMode="auto">
          <a:xfrm>
            <a:off x="622175" y="1388549"/>
            <a:ext cx="72008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spcBef>
                <a:spcPts val="1200"/>
              </a:spcBef>
              <a:spcAft>
                <a:spcPts val="1200"/>
              </a:spcAft>
              <a:buFont typeface="Wingdings" pitchFamily="2" charset="2"/>
              <a:buChar char="Ø"/>
              <a:defRPr/>
            </a:pPr>
            <a:r>
              <a:rPr lang="es-AR" sz="2000" dirty="0">
                <a:solidFill>
                  <a:srgbClr val="000099"/>
                </a:solidFill>
                <a:latin typeface="Verdana" pitchFamily="34" charset="0"/>
              </a:rPr>
              <a:t>Describe las características esenciales de un objeto. </a:t>
            </a:r>
          </a:p>
          <a:p>
            <a:pPr algn="just">
              <a:spcBef>
                <a:spcPts val="1200"/>
              </a:spcBef>
              <a:spcAft>
                <a:spcPts val="1200"/>
              </a:spcAft>
              <a:buFont typeface="Wingdings" pitchFamily="2" charset="2"/>
              <a:buChar char="Ø"/>
              <a:defRPr/>
            </a:pPr>
            <a:r>
              <a:rPr lang="es-AR" sz="2000" dirty="0">
                <a:solidFill>
                  <a:srgbClr val="000099"/>
                </a:solidFill>
                <a:latin typeface="Verdana" pitchFamily="34" charset="0"/>
              </a:rPr>
              <a:t>Nos permite identificar y representar solo los atributos y comportamientos relevantes de un objeto, ignorando los detalles innecesarios. </a:t>
            </a:r>
          </a:p>
          <a:p>
            <a:pPr algn="just">
              <a:spcBef>
                <a:spcPts val="1200"/>
              </a:spcBef>
              <a:spcAft>
                <a:spcPts val="1200"/>
              </a:spcAft>
              <a:buFont typeface="Wingdings" pitchFamily="2" charset="2"/>
              <a:buChar char="Ø"/>
              <a:defRPr/>
            </a:pPr>
            <a:r>
              <a:rPr lang="es-AR" sz="2000" dirty="0">
                <a:solidFill>
                  <a:srgbClr val="000099"/>
                </a:solidFill>
                <a:latin typeface="Verdana" pitchFamily="34" charset="0"/>
              </a:rPr>
              <a:t>Nos importa “que hace” sin importar “como” lo hace.</a:t>
            </a:r>
          </a:p>
          <a:p>
            <a:pPr algn="just">
              <a:spcBef>
                <a:spcPts val="1200"/>
              </a:spcBef>
              <a:spcAft>
                <a:spcPts val="1200"/>
              </a:spcAft>
              <a:buFont typeface="Wingdings" pitchFamily="2" charset="2"/>
              <a:buChar char="Ø"/>
              <a:defRPr/>
            </a:pPr>
            <a:r>
              <a:rPr lang="es-AR" sz="2000" dirty="0">
                <a:solidFill>
                  <a:srgbClr val="000099"/>
                </a:solidFill>
                <a:latin typeface="Verdana" pitchFamily="34" charset="0"/>
              </a:rPr>
              <a:t>facilita el encapsulamiento, ya que al ocultar detalles internos, se protege la integridad del objeto y se reduce el acoplamiento entre componentes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fade">
                                      <p:cBhvr>
                                        <p:cTn id="7" dur="1000"/>
                                        <p:tgtEl>
                                          <p:spTgt spid="12291">
                                            <p:txEl>
                                              <p:pRg st="1" end="1"/>
                                            </p:txEl>
                                          </p:spTgt>
                                        </p:tgtEl>
                                      </p:cBhvr>
                                    </p:animEffect>
                                    <p:anim calcmode="lin" valueType="num">
                                      <p:cBhvr>
                                        <p:cTn id="8" dur="10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291">
                                            <p:txEl>
                                              <p:pRg st="2" end="2"/>
                                            </p:txEl>
                                          </p:spTgt>
                                        </p:tgtEl>
                                        <p:attrNameLst>
                                          <p:attrName>style.visibility</p:attrName>
                                        </p:attrNameLst>
                                      </p:cBhvr>
                                      <p:to>
                                        <p:strVal val="visible"/>
                                      </p:to>
                                    </p:set>
                                    <p:animEffect transition="in" filter="fade">
                                      <p:cBhvr>
                                        <p:cTn id="14" dur="1000"/>
                                        <p:tgtEl>
                                          <p:spTgt spid="12291">
                                            <p:txEl>
                                              <p:pRg st="2" end="2"/>
                                            </p:txEl>
                                          </p:spTgt>
                                        </p:tgtEl>
                                      </p:cBhvr>
                                    </p:animEffect>
                                    <p:anim calcmode="lin" valueType="num">
                                      <p:cBhvr>
                                        <p:cTn id="15" dur="10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29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291">
                                            <p:txEl>
                                              <p:pRg st="3" end="3"/>
                                            </p:txEl>
                                          </p:spTgt>
                                        </p:tgtEl>
                                        <p:attrNameLst>
                                          <p:attrName>style.visibility</p:attrName>
                                        </p:attrNameLst>
                                      </p:cBhvr>
                                      <p:to>
                                        <p:strVal val="visible"/>
                                      </p:to>
                                    </p:set>
                                    <p:animEffect transition="in" filter="fade">
                                      <p:cBhvr>
                                        <p:cTn id="21" dur="1000"/>
                                        <p:tgtEl>
                                          <p:spTgt spid="12291">
                                            <p:txEl>
                                              <p:pRg st="3" end="3"/>
                                            </p:txEl>
                                          </p:spTgt>
                                        </p:tgtEl>
                                      </p:cBhvr>
                                    </p:animEffect>
                                    <p:anim calcmode="lin" valueType="num">
                                      <p:cBhvr>
                                        <p:cTn id="22" dur="10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229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idx="1"/>
          </p:nvPr>
        </p:nvSpPr>
        <p:spPr/>
        <p:txBody>
          <a:bodyPr/>
          <a:lstStyle/>
          <a:p>
            <a:pPr>
              <a:buFont typeface="Arial" charset="0"/>
              <a:buNone/>
            </a:pPr>
            <a:r>
              <a:rPr lang="es-ES"/>
              <a:t>	 </a:t>
            </a:r>
          </a:p>
        </p:txBody>
      </p:sp>
      <p:sp>
        <p:nvSpPr>
          <p:cNvPr id="2" name="1 Marcador de pie de página"/>
          <p:cNvSpPr>
            <a:spLocks noGrp="1"/>
          </p:cNvSpPr>
          <p:nvPr>
            <p:ph type="ftr" sz="quarter" idx="11"/>
          </p:nvPr>
        </p:nvSpPr>
        <p:spPr/>
        <p:txBody>
          <a:bodyPr/>
          <a:lstStyle/>
          <a:p>
            <a:pPr>
              <a:defRPr/>
            </a:pPr>
            <a:r>
              <a:rPr lang="es-ES"/>
              <a:t>Lic. Claudio Godio - FAIN</a:t>
            </a:r>
          </a:p>
        </p:txBody>
      </p:sp>
      <p:sp>
        <p:nvSpPr>
          <p:cNvPr id="3" name="2 Marcador de número de diapositiva"/>
          <p:cNvSpPr>
            <a:spLocks noGrp="1"/>
          </p:cNvSpPr>
          <p:nvPr>
            <p:ph type="sldNum" sz="quarter" idx="12"/>
          </p:nvPr>
        </p:nvSpPr>
        <p:spPr/>
        <p:txBody>
          <a:bodyPr/>
          <a:lstStyle/>
          <a:p>
            <a:pPr>
              <a:defRPr/>
            </a:pPr>
            <a:fld id="{B6843013-39A2-4945-BAC1-88A3B2B1575B}" type="slidenum">
              <a:rPr lang="es-ES" smtClean="0"/>
              <a:pPr>
                <a:defRPr/>
              </a:pPr>
              <a:t>9</a:t>
            </a:fld>
            <a:endParaRPr lang="es-ES"/>
          </a:p>
        </p:txBody>
      </p:sp>
      <p:sp>
        <p:nvSpPr>
          <p:cNvPr id="5" name="CuadroTexto 4">
            <a:extLst>
              <a:ext uri="{FF2B5EF4-FFF2-40B4-BE49-F238E27FC236}">
                <a16:creationId xmlns:a16="http://schemas.microsoft.com/office/drawing/2014/main" id="{F00BA951-E88A-D58A-B1F1-EF8D162544F8}"/>
              </a:ext>
            </a:extLst>
          </p:cNvPr>
          <p:cNvSpPr txBox="1"/>
          <p:nvPr/>
        </p:nvSpPr>
        <p:spPr>
          <a:xfrm>
            <a:off x="609599" y="1556792"/>
            <a:ext cx="7130754" cy="4093428"/>
          </a:xfrm>
          <a:prstGeom prst="rect">
            <a:avLst/>
          </a:prstGeom>
          <a:noFill/>
        </p:spPr>
        <p:txBody>
          <a:bodyPr wrap="square">
            <a:spAutoFit/>
          </a:bodyPr>
          <a:lstStyle/>
          <a:p>
            <a:pPr marL="342900" indent="-342900" algn="just" eaLnBrk="0" hangingPunct="0">
              <a:spcBef>
                <a:spcPts val="1200"/>
              </a:spcBef>
              <a:spcAft>
                <a:spcPts val="1200"/>
              </a:spcAft>
              <a:buFont typeface="Wingdings" pitchFamily="2" charset="2"/>
              <a:buChar char="Ø"/>
              <a:defRPr/>
            </a:pPr>
            <a:r>
              <a:rPr lang="es-AR" sz="2000" dirty="0">
                <a:solidFill>
                  <a:srgbClr val="000099"/>
                </a:solidFill>
                <a:latin typeface="Verdana" pitchFamily="34" charset="0"/>
              </a:rPr>
              <a:t>El conductor interactúa con el motor a través de acciones como </a:t>
            </a:r>
            <a:r>
              <a:rPr lang="es-AR" sz="2000" i="1" dirty="0">
                <a:solidFill>
                  <a:srgbClr val="000099"/>
                </a:solidFill>
                <a:latin typeface="Verdana" pitchFamily="34" charset="0"/>
              </a:rPr>
              <a:t>acelerar, encender el auto, analizar el rendimiento</a:t>
            </a:r>
            <a:r>
              <a:rPr lang="es-AR" sz="2000" dirty="0">
                <a:solidFill>
                  <a:srgbClr val="000099"/>
                </a:solidFill>
                <a:latin typeface="Verdana" pitchFamily="34" charset="0"/>
              </a:rPr>
              <a:t>.</a:t>
            </a:r>
          </a:p>
          <a:p>
            <a:pPr marL="342900" indent="-342900" algn="just" eaLnBrk="0" hangingPunct="0">
              <a:spcBef>
                <a:spcPts val="1200"/>
              </a:spcBef>
              <a:spcAft>
                <a:spcPts val="1200"/>
              </a:spcAft>
              <a:buFont typeface="Wingdings" pitchFamily="2" charset="2"/>
              <a:buChar char="Ø"/>
              <a:defRPr/>
            </a:pPr>
            <a:r>
              <a:rPr lang="es-AR" sz="2000" dirty="0">
                <a:solidFill>
                  <a:srgbClr val="000099"/>
                </a:solidFill>
                <a:latin typeface="Verdana" pitchFamily="34" charset="0"/>
              </a:rPr>
              <a:t>No necesita saber cómo el motor regula el flujo de aire o ajusta la mezcla de combustible.</a:t>
            </a:r>
          </a:p>
          <a:p>
            <a:pPr marL="342900" indent="-342900" algn="just" eaLnBrk="0" hangingPunct="0">
              <a:spcBef>
                <a:spcPts val="1200"/>
              </a:spcBef>
              <a:spcAft>
                <a:spcPts val="1200"/>
              </a:spcAft>
              <a:buFont typeface="Wingdings" pitchFamily="2" charset="2"/>
              <a:buChar char="Ø"/>
              <a:defRPr/>
            </a:pPr>
            <a:r>
              <a:rPr lang="es-AR" sz="2000" dirty="0">
                <a:solidFill>
                  <a:srgbClr val="000099"/>
                </a:solidFill>
                <a:latin typeface="Verdana" pitchFamily="34" charset="0"/>
              </a:rPr>
              <a:t>El mecánico necesita acceder a funciones más técnicas como </a:t>
            </a:r>
            <a:r>
              <a:rPr lang="es-AR" sz="2000" i="1" dirty="0">
                <a:solidFill>
                  <a:srgbClr val="000099"/>
                </a:solidFill>
                <a:latin typeface="Verdana" pitchFamily="34" charset="0"/>
              </a:rPr>
              <a:t>ajustar el ingreso de aire, modificar el ralentí, diagnosticar fallos internos</a:t>
            </a:r>
            <a:r>
              <a:rPr lang="es-AR" sz="2000" dirty="0">
                <a:solidFill>
                  <a:srgbClr val="000099"/>
                </a:solidFill>
                <a:latin typeface="Verdana" pitchFamily="34" charset="0"/>
              </a:rPr>
              <a:t>.</a:t>
            </a:r>
          </a:p>
          <a:p>
            <a:pPr marL="342900" indent="-342900" algn="just" eaLnBrk="0" hangingPunct="0">
              <a:spcBef>
                <a:spcPts val="1200"/>
              </a:spcBef>
              <a:spcAft>
                <a:spcPts val="1200"/>
              </a:spcAft>
              <a:buFont typeface="Wingdings" pitchFamily="2" charset="2"/>
              <a:buChar char="Ø"/>
              <a:defRPr/>
            </a:pPr>
            <a:r>
              <a:rPr lang="es-AR" sz="2000" dirty="0">
                <a:solidFill>
                  <a:srgbClr val="000099"/>
                </a:solidFill>
                <a:latin typeface="Verdana" pitchFamily="34" charset="0"/>
              </a:rPr>
              <a:t>Son abstracciones diferente por que el uso de ese objeto es distinto según el rol.</a:t>
            </a:r>
          </a:p>
        </p:txBody>
      </p:sp>
      <p:sp>
        <p:nvSpPr>
          <p:cNvPr id="6" name="Rectangle 3">
            <a:extLst>
              <a:ext uri="{FF2B5EF4-FFF2-40B4-BE49-F238E27FC236}">
                <a16:creationId xmlns:a16="http://schemas.microsoft.com/office/drawing/2014/main" id="{26B4E289-4DC3-BA4E-5063-407DE705A398}"/>
              </a:ext>
            </a:extLst>
          </p:cNvPr>
          <p:cNvSpPr>
            <a:spLocks noGrp="1"/>
          </p:cNvSpPr>
          <p:nvPr>
            <p:ph type="title"/>
          </p:nvPr>
        </p:nvSpPr>
        <p:spPr>
          <a:xfrm>
            <a:off x="0" y="552318"/>
            <a:ext cx="9144000" cy="528638"/>
          </a:xfrm>
          <a:noFill/>
        </p:spPr>
        <p:txBody>
          <a:bodyPr>
            <a:normAutofit/>
          </a:bodyPr>
          <a:lstStyle/>
          <a:p>
            <a:pPr marL="0" algn="ctr">
              <a:defRPr/>
            </a:pPr>
            <a:r>
              <a:rPr lang="es-AR" sz="2400" b="1" dirty="0">
                <a:solidFill>
                  <a:schemeClr val="tx1"/>
                </a:solidFill>
                <a:latin typeface="Verdana" pitchFamily="34" charset="0"/>
                <a:ea typeface="Verdana" pitchFamily="34" charset="0"/>
                <a:cs typeface="Verdana" pitchFamily="34" charset="0"/>
              </a:rPr>
              <a:t>Ejemplo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6"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7" name="Isosceles Triangle 16">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8"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9"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1" name="Isosceles Triangle 20">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2" name="Isosceles Triangle 21">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grpSp>
      <p:sp>
        <p:nvSpPr>
          <p:cNvPr id="24" name="Rectangle 23">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7" name="Straight Connector 26">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9"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0" name="Isosceles Triangle 29">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1"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2"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3"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4" name="Isosceles Triangle 33">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5" name="Isosceles Triangle 34">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grpSp>
      <p:sp>
        <p:nvSpPr>
          <p:cNvPr id="37" name="Rectangle 36">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ACDD96C3-AB87-FA48-ECE1-35DE90F279B2}"/>
              </a:ext>
            </a:extLst>
          </p:cNvPr>
          <p:cNvPicPr>
            <a:picLocks noChangeAspect="1"/>
          </p:cNvPicPr>
          <p:nvPr/>
        </p:nvPicPr>
        <p:blipFill>
          <a:blip r:embed="rId2"/>
          <a:stretch>
            <a:fillRect/>
          </a:stretch>
        </p:blipFill>
        <p:spPr>
          <a:xfrm>
            <a:off x="844731" y="1171764"/>
            <a:ext cx="7455945" cy="4510846"/>
          </a:xfrm>
          <a:prstGeom prst="rect">
            <a:avLst/>
          </a:prstGeom>
        </p:spPr>
      </p:pic>
      <p:sp>
        <p:nvSpPr>
          <p:cNvPr id="4" name="Marcador de pie de página 3">
            <a:extLst>
              <a:ext uri="{FF2B5EF4-FFF2-40B4-BE49-F238E27FC236}">
                <a16:creationId xmlns:a16="http://schemas.microsoft.com/office/drawing/2014/main" id="{9FE3FBBF-BBCA-B489-0906-6FB73DC03F8E}"/>
              </a:ext>
            </a:extLst>
          </p:cNvPr>
          <p:cNvSpPr>
            <a:spLocks noGrp="1"/>
          </p:cNvSpPr>
          <p:nvPr>
            <p:ph type="ftr" sz="quarter" idx="11"/>
          </p:nvPr>
        </p:nvSpPr>
        <p:spPr>
          <a:xfrm>
            <a:off x="490416" y="6411619"/>
            <a:ext cx="4723209" cy="365125"/>
          </a:xfrm>
        </p:spPr>
        <p:txBody>
          <a:bodyPr vert="horz" lIns="91440" tIns="45720" rIns="91440" bIns="45720" rtlCol="0" anchor="ctr">
            <a:normAutofit/>
          </a:bodyPr>
          <a:lstStyle/>
          <a:p>
            <a:pPr>
              <a:spcAft>
                <a:spcPts val="600"/>
              </a:spcAft>
              <a:defRPr/>
            </a:pPr>
            <a:r>
              <a:rPr lang="en-US" kern="1200">
                <a:solidFill>
                  <a:srgbClr val="FFFFFF"/>
                </a:solidFill>
                <a:latin typeface="+mn-lt"/>
                <a:ea typeface="+mn-ea"/>
                <a:cs typeface="+mn-cs"/>
              </a:rPr>
              <a:t>Lic. Claudio Godio - FAIN</a:t>
            </a:r>
          </a:p>
        </p:txBody>
      </p:sp>
      <p:sp>
        <p:nvSpPr>
          <p:cNvPr id="5" name="Marcador de número de diapositiva 4">
            <a:extLst>
              <a:ext uri="{FF2B5EF4-FFF2-40B4-BE49-F238E27FC236}">
                <a16:creationId xmlns:a16="http://schemas.microsoft.com/office/drawing/2014/main" id="{0EE40FBD-39B5-7315-9282-FB9A3EFED6DC}"/>
              </a:ext>
            </a:extLst>
          </p:cNvPr>
          <p:cNvSpPr>
            <a:spLocks noGrp="1"/>
          </p:cNvSpPr>
          <p:nvPr>
            <p:ph type="sldNum" sz="quarter" idx="12"/>
          </p:nvPr>
        </p:nvSpPr>
        <p:spPr>
          <a:xfrm>
            <a:off x="8148895" y="6411619"/>
            <a:ext cx="512504" cy="365125"/>
          </a:xfrm>
        </p:spPr>
        <p:txBody>
          <a:bodyPr vert="horz" lIns="91440" tIns="45720" rIns="91440" bIns="45720" rtlCol="0" anchor="ctr">
            <a:normAutofit/>
          </a:bodyPr>
          <a:lstStyle/>
          <a:p>
            <a:pPr>
              <a:spcAft>
                <a:spcPts val="600"/>
              </a:spcAft>
              <a:defRPr/>
            </a:pPr>
            <a:fld id="{EEBEB145-D773-4B0D-A431-673E72F162C5}" type="slidenum">
              <a:rPr lang="en-US">
                <a:solidFill>
                  <a:srgbClr val="FFFFFF"/>
                </a:solidFill>
              </a:rPr>
              <a:pPr>
                <a:spcAft>
                  <a:spcPts val="600"/>
                </a:spcAft>
                <a:defRPr/>
              </a:pPr>
              <a:t>10</a:t>
            </a:fld>
            <a:endParaRPr lang="en-US">
              <a:solidFill>
                <a:srgbClr val="FFFFFF"/>
              </a:solidFill>
            </a:endParaRPr>
          </a:p>
        </p:txBody>
      </p:sp>
    </p:spTree>
    <p:extLst>
      <p:ext uri="{BB962C8B-B14F-4D97-AF65-F5344CB8AC3E}">
        <p14:creationId xmlns:p14="http://schemas.microsoft.com/office/powerpoint/2010/main" val="131902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5"/>
          <p:cNvSpPr txBox="1">
            <a:spLocks noChangeArrowheads="1"/>
          </p:cNvSpPr>
          <p:nvPr/>
        </p:nvSpPr>
        <p:spPr bwMode="auto">
          <a:xfrm>
            <a:off x="539552" y="1078817"/>
            <a:ext cx="727476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342900" indent="-34290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Es la división del sistema en partes independientes llamadas módulos (clases, funciones, componen-tes).</a:t>
            </a:r>
          </a:p>
          <a:p>
            <a:pPr algn="just">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Cada módulo debe tener una responsabilidad clara y bien definida.</a:t>
            </a:r>
          </a:p>
          <a:p>
            <a:pPr algn="just">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Permite que el código de un módulo se escriba, mantenga y reutilice sin depender directamente del código de otros módulos.</a:t>
            </a:r>
          </a:p>
          <a:p>
            <a:pPr algn="just">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Ejemplo: Una clase Usuario puede manejar datos personales, mientras que una clase Autenticador se encarga del inicio de sesión. Cada una tiene su propia lógica y puede evolucionar sin afectar a la otra.</a:t>
            </a:r>
          </a:p>
        </p:txBody>
      </p:sp>
      <p:sp>
        <p:nvSpPr>
          <p:cNvPr id="2" name="1 Marcador de pie de página"/>
          <p:cNvSpPr>
            <a:spLocks noGrp="1"/>
          </p:cNvSpPr>
          <p:nvPr>
            <p:ph type="ftr" sz="quarter" idx="11"/>
          </p:nvPr>
        </p:nvSpPr>
        <p:spPr/>
        <p:txBody>
          <a:bodyPr/>
          <a:lstStyle/>
          <a:p>
            <a:pPr>
              <a:defRPr/>
            </a:pPr>
            <a:r>
              <a:rPr lang="es-ES"/>
              <a:t>Lic. Claudio Godio - FAIN</a:t>
            </a:r>
          </a:p>
        </p:txBody>
      </p:sp>
      <p:sp>
        <p:nvSpPr>
          <p:cNvPr id="3" name="2 Marcador de número de diapositiva"/>
          <p:cNvSpPr>
            <a:spLocks noGrp="1"/>
          </p:cNvSpPr>
          <p:nvPr>
            <p:ph type="sldNum" sz="quarter" idx="12"/>
          </p:nvPr>
        </p:nvSpPr>
        <p:spPr/>
        <p:txBody>
          <a:bodyPr/>
          <a:lstStyle/>
          <a:p>
            <a:pPr>
              <a:defRPr/>
            </a:pPr>
            <a:fld id="{0E96B184-D666-49A1-9965-5A1874E72B27}" type="slidenum">
              <a:rPr lang="es-ES" smtClean="0"/>
              <a:pPr>
                <a:defRPr/>
              </a:pPr>
              <a:t>11</a:t>
            </a:fld>
            <a:endParaRPr lang="es-ES"/>
          </a:p>
        </p:txBody>
      </p:sp>
      <p:sp>
        <p:nvSpPr>
          <p:cNvPr id="6" name="Rectangle 3">
            <a:extLst>
              <a:ext uri="{FF2B5EF4-FFF2-40B4-BE49-F238E27FC236}">
                <a16:creationId xmlns:a16="http://schemas.microsoft.com/office/drawing/2014/main" id="{DEABD7C6-1446-41C5-A6F9-9289F2472659}"/>
              </a:ext>
            </a:extLst>
          </p:cNvPr>
          <p:cNvSpPr txBox="1">
            <a:spLocks/>
          </p:cNvSpPr>
          <p:nvPr/>
        </p:nvSpPr>
        <p:spPr>
          <a:xfrm>
            <a:off x="0" y="547027"/>
            <a:ext cx="9144000" cy="531790"/>
          </a:xfrm>
          <a:prstGeom prst="rect">
            <a:avLst/>
          </a:prstGeom>
          <a:noFill/>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Bef>
                <a:spcPts val="600"/>
              </a:spcBef>
              <a:spcAft>
                <a:spcPts val="600"/>
              </a:spcAft>
              <a:defRPr/>
            </a:pPr>
            <a:r>
              <a:rPr lang="es-AR" sz="2400" b="1" dirty="0">
                <a:solidFill>
                  <a:schemeClr val="tx1"/>
                </a:solidFill>
                <a:latin typeface="Verdana" pitchFamily="34" charset="0"/>
              </a:rPr>
              <a:t>Modularidad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338">
                                            <p:txEl>
                                              <p:pRg st="1" end="1"/>
                                            </p:txEl>
                                          </p:spTgt>
                                        </p:tgtEl>
                                        <p:attrNameLst>
                                          <p:attrName>style.visibility</p:attrName>
                                        </p:attrNameLst>
                                      </p:cBhvr>
                                      <p:to>
                                        <p:strVal val="visible"/>
                                      </p:to>
                                    </p:set>
                                    <p:animEffect transition="in" filter="fade">
                                      <p:cBhvr>
                                        <p:cTn id="7" dur="1000"/>
                                        <p:tgtEl>
                                          <p:spTgt spid="14338">
                                            <p:txEl>
                                              <p:pRg st="1" end="1"/>
                                            </p:txEl>
                                          </p:spTgt>
                                        </p:tgtEl>
                                      </p:cBhvr>
                                    </p:animEffect>
                                    <p:anim calcmode="lin" valueType="num">
                                      <p:cBhvr>
                                        <p:cTn id="8" dur="1000" fill="hold"/>
                                        <p:tgtEl>
                                          <p:spTgt spid="1433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3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338">
                                            <p:txEl>
                                              <p:pRg st="2" end="2"/>
                                            </p:txEl>
                                          </p:spTgt>
                                        </p:tgtEl>
                                        <p:attrNameLst>
                                          <p:attrName>style.visibility</p:attrName>
                                        </p:attrNameLst>
                                      </p:cBhvr>
                                      <p:to>
                                        <p:strVal val="visible"/>
                                      </p:to>
                                    </p:set>
                                    <p:animEffect transition="in" filter="fade">
                                      <p:cBhvr>
                                        <p:cTn id="14" dur="1000"/>
                                        <p:tgtEl>
                                          <p:spTgt spid="14338">
                                            <p:txEl>
                                              <p:pRg st="2" end="2"/>
                                            </p:txEl>
                                          </p:spTgt>
                                        </p:tgtEl>
                                      </p:cBhvr>
                                    </p:animEffect>
                                    <p:anim calcmode="lin" valueType="num">
                                      <p:cBhvr>
                                        <p:cTn id="15" dur="1000" fill="hold"/>
                                        <p:tgtEl>
                                          <p:spTgt spid="1433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3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338">
                                            <p:txEl>
                                              <p:pRg st="3" end="3"/>
                                            </p:txEl>
                                          </p:spTgt>
                                        </p:tgtEl>
                                        <p:attrNameLst>
                                          <p:attrName>style.visibility</p:attrName>
                                        </p:attrNameLst>
                                      </p:cBhvr>
                                      <p:to>
                                        <p:strVal val="visible"/>
                                      </p:to>
                                    </p:set>
                                    <p:animEffect transition="in" filter="fade">
                                      <p:cBhvr>
                                        <p:cTn id="21" dur="1000"/>
                                        <p:tgtEl>
                                          <p:spTgt spid="14338">
                                            <p:txEl>
                                              <p:pRg st="3" end="3"/>
                                            </p:txEl>
                                          </p:spTgt>
                                        </p:tgtEl>
                                      </p:cBhvr>
                                    </p:animEffect>
                                    <p:anim calcmode="lin" valueType="num">
                                      <p:cBhvr>
                                        <p:cTn id="22" dur="1000" fill="hold"/>
                                        <p:tgtEl>
                                          <p:spTgt spid="1433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33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96F9-349C-7396-00A8-EC3E89797950}"/>
            </a:ext>
          </a:extLst>
        </p:cNvPr>
        <p:cNvGrpSpPr/>
        <p:nvPr/>
      </p:nvGrpSpPr>
      <p:grpSpPr>
        <a:xfrm>
          <a:off x="0" y="0"/>
          <a:ext cx="0" cy="0"/>
          <a:chOff x="0" y="0"/>
          <a:chExt cx="0" cy="0"/>
        </a:xfrm>
      </p:grpSpPr>
      <p:sp>
        <p:nvSpPr>
          <p:cNvPr id="14338" name="Text Box 5">
            <a:extLst>
              <a:ext uri="{FF2B5EF4-FFF2-40B4-BE49-F238E27FC236}">
                <a16:creationId xmlns:a16="http://schemas.microsoft.com/office/drawing/2014/main" id="{B445A635-FC30-BB50-55A4-498198F1563B}"/>
              </a:ext>
            </a:extLst>
          </p:cNvPr>
          <p:cNvSpPr txBox="1">
            <a:spLocks noChangeArrowheads="1"/>
          </p:cNvSpPr>
          <p:nvPr/>
        </p:nvSpPr>
        <p:spPr bwMode="auto">
          <a:xfrm>
            <a:off x="539552" y="1473236"/>
            <a:ext cx="727476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342900" indent="-34290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Mide cuán relacionadas están las responsabilidades dentro de un módulo.</a:t>
            </a:r>
          </a:p>
          <a:p>
            <a:pPr algn="just">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Un módulo con alta cohesión realiza tareas que están estrechamente relacionadas entre sí.</a:t>
            </a:r>
          </a:p>
          <a:p>
            <a:pPr algn="just">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Mejora la claridad, mantenibilidad y reutilización del código.</a:t>
            </a:r>
          </a:p>
          <a:p>
            <a:pPr algn="just">
              <a:spcBef>
                <a:spcPts val="1200"/>
              </a:spcBef>
              <a:spcAft>
                <a:spcPts val="1200"/>
              </a:spcAft>
              <a:buFont typeface="Wingdings" panose="05000000000000000000" pitchFamily="2" charset="2"/>
              <a:buChar char="Ø"/>
              <a:defRPr/>
            </a:pPr>
            <a:r>
              <a:rPr lang="es-AR" sz="2000" b="1" i="1" dirty="0">
                <a:solidFill>
                  <a:srgbClr val="000099"/>
                </a:solidFill>
                <a:latin typeface="Verdana" pitchFamily="34" charset="0"/>
              </a:rPr>
              <a:t>Ejemplo</a:t>
            </a:r>
            <a:r>
              <a:rPr lang="es-AR" sz="2000" dirty="0">
                <a:solidFill>
                  <a:srgbClr val="000099"/>
                </a:solidFill>
                <a:latin typeface="Verdana" pitchFamily="34" charset="0"/>
              </a:rPr>
              <a:t>: Una clase Factura que calcula totales, aplica impuestos y genera el PDF (alta cohesión), si además envía la factura por correo, su cohesión disminuye.</a:t>
            </a:r>
          </a:p>
        </p:txBody>
      </p:sp>
      <p:sp>
        <p:nvSpPr>
          <p:cNvPr id="2" name="1 Marcador de pie de página">
            <a:extLst>
              <a:ext uri="{FF2B5EF4-FFF2-40B4-BE49-F238E27FC236}">
                <a16:creationId xmlns:a16="http://schemas.microsoft.com/office/drawing/2014/main" id="{89D409DD-47FD-E710-9215-C3C29D2BAACA}"/>
              </a:ext>
            </a:extLst>
          </p:cNvPr>
          <p:cNvSpPr>
            <a:spLocks noGrp="1"/>
          </p:cNvSpPr>
          <p:nvPr>
            <p:ph type="ftr" sz="quarter" idx="11"/>
          </p:nvPr>
        </p:nvSpPr>
        <p:spPr/>
        <p:txBody>
          <a:bodyPr/>
          <a:lstStyle/>
          <a:p>
            <a:pPr>
              <a:defRPr/>
            </a:pPr>
            <a:r>
              <a:rPr lang="es-ES"/>
              <a:t>Lic. Claudio Godio - FAIN</a:t>
            </a:r>
          </a:p>
        </p:txBody>
      </p:sp>
      <p:sp>
        <p:nvSpPr>
          <p:cNvPr id="3" name="2 Marcador de número de diapositiva">
            <a:extLst>
              <a:ext uri="{FF2B5EF4-FFF2-40B4-BE49-F238E27FC236}">
                <a16:creationId xmlns:a16="http://schemas.microsoft.com/office/drawing/2014/main" id="{E1A5BD57-E176-C81C-48DD-00730AF1392C}"/>
              </a:ext>
            </a:extLst>
          </p:cNvPr>
          <p:cNvSpPr>
            <a:spLocks noGrp="1"/>
          </p:cNvSpPr>
          <p:nvPr>
            <p:ph type="sldNum" sz="quarter" idx="12"/>
          </p:nvPr>
        </p:nvSpPr>
        <p:spPr/>
        <p:txBody>
          <a:bodyPr/>
          <a:lstStyle/>
          <a:p>
            <a:pPr>
              <a:defRPr/>
            </a:pPr>
            <a:fld id="{0E96B184-D666-49A1-9965-5A1874E72B27}" type="slidenum">
              <a:rPr lang="es-ES" smtClean="0"/>
              <a:pPr>
                <a:defRPr/>
              </a:pPr>
              <a:t>12</a:t>
            </a:fld>
            <a:endParaRPr lang="es-ES"/>
          </a:p>
        </p:txBody>
      </p:sp>
      <p:sp>
        <p:nvSpPr>
          <p:cNvPr id="6" name="Rectangle 3">
            <a:extLst>
              <a:ext uri="{FF2B5EF4-FFF2-40B4-BE49-F238E27FC236}">
                <a16:creationId xmlns:a16="http://schemas.microsoft.com/office/drawing/2014/main" id="{FF8BD565-D94B-B192-1C71-9CE6A032211E}"/>
              </a:ext>
            </a:extLst>
          </p:cNvPr>
          <p:cNvSpPr txBox="1">
            <a:spLocks/>
          </p:cNvSpPr>
          <p:nvPr/>
        </p:nvSpPr>
        <p:spPr>
          <a:xfrm>
            <a:off x="0" y="503962"/>
            <a:ext cx="9144000" cy="531790"/>
          </a:xfrm>
          <a:prstGeom prst="rect">
            <a:avLst/>
          </a:prstGeom>
          <a:noFill/>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Bef>
                <a:spcPts val="600"/>
              </a:spcBef>
              <a:spcAft>
                <a:spcPts val="600"/>
              </a:spcAft>
              <a:defRPr/>
            </a:pPr>
            <a:r>
              <a:rPr lang="es-AR" sz="2400" b="1" dirty="0">
                <a:solidFill>
                  <a:schemeClr val="tx1"/>
                </a:solidFill>
                <a:latin typeface="Verdana" pitchFamily="34" charset="0"/>
              </a:rPr>
              <a:t>Cohesión</a:t>
            </a:r>
          </a:p>
        </p:txBody>
      </p:sp>
    </p:spTree>
    <p:extLst>
      <p:ext uri="{BB962C8B-B14F-4D97-AF65-F5344CB8AC3E}">
        <p14:creationId xmlns:p14="http://schemas.microsoft.com/office/powerpoint/2010/main" val="123902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338">
                                            <p:txEl>
                                              <p:pRg st="1" end="1"/>
                                            </p:txEl>
                                          </p:spTgt>
                                        </p:tgtEl>
                                        <p:attrNameLst>
                                          <p:attrName>style.visibility</p:attrName>
                                        </p:attrNameLst>
                                      </p:cBhvr>
                                      <p:to>
                                        <p:strVal val="visible"/>
                                      </p:to>
                                    </p:set>
                                    <p:animEffect transition="in" filter="fade">
                                      <p:cBhvr>
                                        <p:cTn id="7" dur="1000"/>
                                        <p:tgtEl>
                                          <p:spTgt spid="14338">
                                            <p:txEl>
                                              <p:pRg st="1" end="1"/>
                                            </p:txEl>
                                          </p:spTgt>
                                        </p:tgtEl>
                                      </p:cBhvr>
                                    </p:animEffect>
                                    <p:anim calcmode="lin" valueType="num">
                                      <p:cBhvr>
                                        <p:cTn id="8" dur="1000" fill="hold"/>
                                        <p:tgtEl>
                                          <p:spTgt spid="1433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3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338">
                                            <p:txEl>
                                              <p:pRg st="2" end="2"/>
                                            </p:txEl>
                                          </p:spTgt>
                                        </p:tgtEl>
                                        <p:attrNameLst>
                                          <p:attrName>style.visibility</p:attrName>
                                        </p:attrNameLst>
                                      </p:cBhvr>
                                      <p:to>
                                        <p:strVal val="visible"/>
                                      </p:to>
                                    </p:set>
                                    <p:animEffect transition="in" filter="fade">
                                      <p:cBhvr>
                                        <p:cTn id="14" dur="1000"/>
                                        <p:tgtEl>
                                          <p:spTgt spid="14338">
                                            <p:txEl>
                                              <p:pRg st="2" end="2"/>
                                            </p:txEl>
                                          </p:spTgt>
                                        </p:tgtEl>
                                      </p:cBhvr>
                                    </p:animEffect>
                                    <p:anim calcmode="lin" valueType="num">
                                      <p:cBhvr>
                                        <p:cTn id="15" dur="1000" fill="hold"/>
                                        <p:tgtEl>
                                          <p:spTgt spid="1433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3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338">
                                            <p:txEl>
                                              <p:pRg st="3" end="3"/>
                                            </p:txEl>
                                          </p:spTgt>
                                        </p:tgtEl>
                                        <p:attrNameLst>
                                          <p:attrName>style.visibility</p:attrName>
                                        </p:attrNameLst>
                                      </p:cBhvr>
                                      <p:to>
                                        <p:strVal val="visible"/>
                                      </p:to>
                                    </p:set>
                                    <p:animEffect transition="in" filter="fade">
                                      <p:cBhvr>
                                        <p:cTn id="21" dur="1000"/>
                                        <p:tgtEl>
                                          <p:spTgt spid="14338">
                                            <p:txEl>
                                              <p:pRg st="3" end="3"/>
                                            </p:txEl>
                                          </p:spTgt>
                                        </p:tgtEl>
                                      </p:cBhvr>
                                    </p:animEffect>
                                    <p:anim calcmode="lin" valueType="num">
                                      <p:cBhvr>
                                        <p:cTn id="22" dur="1000" fill="hold"/>
                                        <p:tgtEl>
                                          <p:spTgt spid="1433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33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7D902-50E2-2E29-BE6E-7794F8517F38}"/>
            </a:ext>
          </a:extLst>
        </p:cNvPr>
        <p:cNvGrpSpPr/>
        <p:nvPr/>
      </p:nvGrpSpPr>
      <p:grpSpPr>
        <a:xfrm>
          <a:off x="0" y="0"/>
          <a:ext cx="0" cy="0"/>
          <a:chOff x="0" y="0"/>
          <a:chExt cx="0" cy="0"/>
        </a:xfrm>
      </p:grpSpPr>
      <p:sp>
        <p:nvSpPr>
          <p:cNvPr id="14338" name="Text Box 5">
            <a:extLst>
              <a:ext uri="{FF2B5EF4-FFF2-40B4-BE49-F238E27FC236}">
                <a16:creationId xmlns:a16="http://schemas.microsoft.com/office/drawing/2014/main" id="{6BADD78C-E5B0-5AC3-63B0-95443BB556F4}"/>
              </a:ext>
            </a:extLst>
          </p:cNvPr>
          <p:cNvSpPr txBox="1">
            <a:spLocks noChangeArrowheads="1"/>
          </p:cNvSpPr>
          <p:nvPr/>
        </p:nvSpPr>
        <p:spPr bwMode="auto">
          <a:xfrm>
            <a:off x="539552" y="1473236"/>
            <a:ext cx="727476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342900" indent="-34290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Mide el grado de dependencia entre módulos.</a:t>
            </a:r>
          </a:p>
          <a:p>
            <a:pPr algn="just">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Un sistema con bajo acoplamiento tiene módulos que interactúan entre sí sin depender fuertemente de la implementación interna de otros.</a:t>
            </a:r>
          </a:p>
          <a:p>
            <a:pPr algn="just">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Facilita el cambio y evolución del sistema sin romper otras partes.</a:t>
            </a:r>
          </a:p>
          <a:p>
            <a:pPr algn="just">
              <a:spcBef>
                <a:spcPts val="1200"/>
              </a:spcBef>
              <a:spcAft>
                <a:spcPts val="1200"/>
              </a:spcAft>
              <a:buFont typeface="Wingdings" panose="05000000000000000000" pitchFamily="2" charset="2"/>
              <a:buChar char="Ø"/>
              <a:defRPr/>
            </a:pPr>
            <a:r>
              <a:rPr lang="es-AR" sz="2000" b="1" i="1" dirty="0">
                <a:solidFill>
                  <a:srgbClr val="000099"/>
                </a:solidFill>
                <a:latin typeface="Verdana" pitchFamily="34" charset="0"/>
              </a:rPr>
              <a:t>Ejemplo</a:t>
            </a:r>
            <a:r>
              <a:rPr lang="es-AR" sz="2000" dirty="0">
                <a:solidFill>
                  <a:srgbClr val="000099"/>
                </a:solidFill>
                <a:latin typeface="Verdana" pitchFamily="34" charset="0"/>
              </a:rPr>
              <a:t>: Si Factura depende directamente de Usuario para obtener datos, hay acoplamiento. Si usa una interfaz o servicio para obtener esa información, el acoplamiento es menor.</a:t>
            </a:r>
          </a:p>
        </p:txBody>
      </p:sp>
      <p:sp>
        <p:nvSpPr>
          <p:cNvPr id="2" name="1 Marcador de pie de página">
            <a:extLst>
              <a:ext uri="{FF2B5EF4-FFF2-40B4-BE49-F238E27FC236}">
                <a16:creationId xmlns:a16="http://schemas.microsoft.com/office/drawing/2014/main" id="{090B4630-F0C0-D2BA-8B89-0D6DF9E19F86}"/>
              </a:ext>
            </a:extLst>
          </p:cNvPr>
          <p:cNvSpPr>
            <a:spLocks noGrp="1"/>
          </p:cNvSpPr>
          <p:nvPr>
            <p:ph type="ftr" sz="quarter" idx="11"/>
          </p:nvPr>
        </p:nvSpPr>
        <p:spPr/>
        <p:txBody>
          <a:bodyPr/>
          <a:lstStyle/>
          <a:p>
            <a:pPr>
              <a:defRPr/>
            </a:pPr>
            <a:r>
              <a:rPr lang="es-ES"/>
              <a:t>Lic. Claudio Godio - FAIN</a:t>
            </a:r>
          </a:p>
        </p:txBody>
      </p:sp>
      <p:sp>
        <p:nvSpPr>
          <p:cNvPr id="3" name="2 Marcador de número de diapositiva">
            <a:extLst>
              <a:ext uri="{FF2B5EF4-FFF2-40B4-BE49-F238E27FC236}">
                <a16:creationId xmlns:a16="http://schemas.microsoft.com/office/drawing/2014/main" id="{7FC5B9C6-F12A-7A22-9177-AF0BC840C1C6}"/>
              </a:ext>
            </a:extLst>
          </p:cNvPr>
          <p:cNvSpPr>
            <a:spLocks noGrp="1"/>
          </p:cNvSpPr>
          <p:nvPr>
            <p:ph type="sldNum" sz="quarter" idx="12"/>
          </p:nvPr>
        </p:nvSpPr>
        <p:spPr/>
        <p:txBody>
          <a:bodyPr/>
          <a:lstStyle/>
          <a:p>
            <a:pPr>
              <a:defRPr/>
            </a:pPr>
            <a:fld id="{0E96B184-D666-49A1-9965-5A1874E72B27}" type="slidenum">
              <a:rPr lang="es-ES" smtClean="0"/>
              <a:pPr>
                <a:defRPr/>
              </a:pPr>
              <a:t>13</a:t>
            </a:fld>
            <a:endParaRPr lang="es-ES"/>
          </a:p>
        </p:txBody>
      </p:sp>
      <p:sp>
        <p:nvSpPr>
          <p:cNvPr id="6" name="Rectangle 3">
            <a:extLst>
              <a:ext uri="{FF2B5EF4-FFF2-40B4-BE49-F238E27FC236}">
                <a16:creationId xmlns:a16="http://schemas.microsoft.com/office/drawing/2014/main" id="{5E62127C-8DDF-E7DF-8FBF-C7ADCCF99A2D}"/>
              </a:ext>
            </a:extLst>
          </p:cNvPr>
          <p:cNvSpPr txBox="1">
            <a:spLocks/>
          </p:cNvSpPr>
          <p:nvPr/>
        </p:nvSpPr>
        <p:spPr>
          <a:xfrm>
            <a:off x="0" y="503962"/>
            <a:ext cx="9144000" cy="531790"/>
          </a:xfrm>
          <a:prstGeom prst="rect">
            <a:avLst/>
          </a:prstGeom>
          <a:noFill/>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Bef>
                <a:spcPts val="600"/>
              </a:spcBef>
              <a:spcAft>
                <a:spcPts val="600"/>
              </a:spcAft>
              <a:defRPr/>
            </a:pPr>
            <a:r>
              <a:rPr lang="es-AR" sz="2400" b="1" dirty="0">
                <a:solidFill>
                  <a:schemeClr val="tx1"/>
                </a:solidFill>
                <a:latin typeface="Verdana" pitchFamily="34" charset="0"/>
              </a:rPr>
              <a:t>Acoplamiento</a:t>
            </a:r>
          </a:p>
        </p:txBody>
      </p:sp>
    </p:spTree>
    <p:extLst>
      <p:ext uri="{BB962C8B-B14F-4D97-AF65-F5344CB8AC3E}">
        <p14:creationId xmlns:p14="http://schemas.microsoft.com/office/powerpoint/2010/main" val="132059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338">
                                            <p:txEl>
                                              <p:pRg st="1" end="1"/>
                                            </p:txEl>
                                          </p:spTgt>
                                        </p:tgtEl>
                                        <p:attrNameLst>
                                          <p:attrName>style.visibility</p:attrName>
                                        </p:attrNameLst>
                                      </p:cBhvr>
                                      <p:to>
                                        <p:strVal val="visible"/>
                                      </p:to>
                                    </p:set>
                                    <p:animEffect transition="in" filter="fade">
                                      <p:cBhvr>
                                        <p:cTn id="7" dur="1000"/>
                                        <p:tgtEl>
                                          <p:spTgt spid="14338">
                                            <p:txEl>
                                              <p:pRg st="1" end="1"/>
                                            </p:txEl>
                                          </p:spTgt>
                                        </p:tgtEl>
                                      </p:cBhvr>
                                    </p:animEffect>
                                    <p:anim calcmode="lin" valueType="num">
                                      <p:cBhvr>
                                        <p:cTn id="8" dur="1000" fill="hold"/>
                                        <p:tgtEl>
                                          <p:spTgt spid="1433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3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338">
                                            <p:txEl>
                                              <p:pRg st="2" end="2"/>
                                            </p:txEl>
                                          </p:spTgt>
                                        </p:tgtEl>
                                        <p:attrNameLst>
                                          <p:attrName>style.visibility</p:attrName>
                                        </p:attrNameLst>
                                      </p:cBhvr>
                                      <p:to>
                                        <p:strVal val="visible"/>
                                      </p:to>
                                    </p:set>
                                    <p:animEffect transition="in" filter="fade">
                                      <p:cBhvr>
                                        <p:cTn id="14" dur="1000"/>
                                        <p:tgtEl>
                                          <p:spTgt spid="14338">
                                            <p:txEl>
                                              <p:pRg st="2" end="2"/>
                                            </p:txEl>
                                          </p:spTgt>
                                        </p:tgtEl>
                                      </p:cBhvr>
                                    </p:animEffect>
                                    <p:anim calcmode="lin" valueType="num">
                                      <p:cBhvr>
                                        <p:cTn id="15" dur="1000" fill="hold"/>
                                        <p:tgtEl>
                                          <p:spTgt spid="1433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33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5"/>
          <p:cNvSpPr txBox="1">
            <a:spLocks noChangeArrowheads="1"/>
          </p:cNvSpPr>
          <p:nvPr/>
        </p:nvSpPr>
        <p:spPr bwMode="auto">
          <a:xfrm>
            <a:off x="609599" y="1950790"/>
            <a:ext cx="734677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spcBef>
                <a:spcPts val="1800"/>
              </a:spcBef>
              <a:spcAft>
                <a:spcPts val="1800"/>
              </a:spcAft>
              <a:buFont typeface="Wingdings" pitchFamily="2" charset="2"/>
              <a:buChar char="Ø"/>
              <a:defRPr/>
            </a:pPr>
            <a:r>
              <a:rPr lang="es-AR" sz="2000" dirty="0">
                <a:solidFill>
                  <a:srgbClr val="000099"/>
                </a:solidFill>
                <a:latin typeface="Verdana" pitchFamily="34" charset="0"/>
              </a:rPr>
              <a:t>Una entidad </a:t>
            </a:r>
            <a:r>
              <a:rPr lang="es-AR" sz="2000" dirty="0">
                <a:solidFill>
                  <a:srgbClr val="000099"/>
                </a:solidFill>
                <a:latin typeface="Verdana" pitchFamily="34" charset="0"/>
                <a:sym typeface="Wingdings" panose="05000000000000000000" pitchFamily="2" charset="2"/>
              </a:rPr>
              <a:t></a:t>
            </a:r>
            <a:r>
              <a:rPr lang="es-AR" sz="2000" dirty="0">
                <a:solidFill>
                  <a:srgbClr val="000099"/>
                </a:solidFill>
                <a:latin typeface="Verdana" pitchFamily="34" charset="0"/>
              </a:rPr>
              <a:t> Muchas formas</a:t>
            </a:r>
          </a:p>
          <a:p>
            <a:pPr algn="just">
              <a:spcBef>
                <a:spcPts val="1800"/>
              </a:spcBef>
              <a:spcAft>
                <a:spcPts val="1800"/>
              </a:spcAft>
              <a:buFont typeface="Wingdings" pitchFamily="2" charset="2"/>
              <a:buChar char="Ø"/>
              <a:defRPr/>
            </a:pPr>
            <a:r>
              <a:rPr lang="es-AR" sz="2000" dirty="0">
                <a:solidFill>
                  <a:srgbClr val="000099"/>
                </a:solidFill>
                <a:latin typeface="Verdana" pitchFamily="34" charset="0"/>
              </a:rPr>
              <a:t>Permite referirse a objetos de clases diferentes mediante la misma referencia, según sea el objeto que se referencia en ese momento.</a:t>
            </a:r>
          </a:p>
          <a:p>
            <a:pPr algn="just">
              <a:spcBef>
                <a:spcPts val="1800"/>
              </a:spcBef>
              <a:spcAft>
                <a:spcPts val="1800"/>
              </a:spcAft>
              <a:buFont typeface="Wingdings" pitchFamily="2" charset="2"/>
              <a:buChar char="Ø"/>
              <a:defRPr/>
            </a:pPr>
            <a:r>
              <a:rPr lang="es-AR" sz="2000" dirty="0">
                <a:solidFill>
                  <a:srgbClr val="000099"/>
                </a:solidFill>
                <a:latin typeface="Verdana" pitchFamily="34" charset="0"/>
              </a:rPr>
              <a:t>Ejecución de código asignado de manera dinámica, la decisión de qué método ejecutar se toma en tiempo de ejecución, no en tiempo de compilación</a:t>
            </a:r>
          </a:p>
        </p:txBody>
      </p:sp>
      <p:sp>
        <p:nvSpPr>
          <p:cNvPr id="2" name="1 Marcador de pie de página"/>
          <p:cNvSpPr>
            <a:spLocks noGrp="1"/>
          </p:cNvSpPr>
          <p:nvPr>
            <p:ph type="ftr" sz="quarter" idx="11"/>
          </p:nvPr>
        </p:nvSpPr>
        <p:spPr/>
        <p:txBody>
          <a:bodyPr/>
          <a:lstStyle/>
          <a:p>
            <a:pPr>
              <a:defRPr/>
            </a:pPr>
            <a:r>
              <a:rPr lang="es-ES"/>
              <a:t>Lic. Claudio Godio - FAIN</a:t>
            </a:r>
          </a:p>
        </p:txBody>
      </p:sp>
      <p:sp>
        <p:nvSpPr>
          <p:cNvPr id="3" name="2 Marcador de número de diapositiva"/>
          <p:cNvSpPr>
            <a:spLocks noGrp="1"/>
          </p:cNvSpPr>
          <p:nvPr>
            <p:ph type="sldNum" sz="quarter" idx="12"/>
          </p:nvPr>
        </p:nvSpPr>
        <p:spPr/>
        <p:txBody>
          <a:bodyPr/>
          <a:lstStyle/>
          <a:p>
            <a:pPr>
              <a:defRPr/>
            </a:pPr>
            <a:fld id="{5EEA2CB4-12E4-4FDF-8691-D030D603DE30}" type="slidenum">
              <a:rPr lang="es-ES" smtClean="0"/>
              <a:pPr>
                <a:defRPr/>
              </a:pPr>
              <a:t>14</a:t>
            </a:fld>
            <a:endParaRPr lang="es-ES"/>
          </a:p>
        </p:txBody>
      </p:sp>
      <p:sp>
        <p:nvSpPr>
          <p:cNvPr id="8" name="Rectangle 3">
            <a:extLst>
              <a:ext uri="{FF2B5EF4-FFF2-40B4-BE49-F238E27FC236}">
                <a16:creationId xmlns:a16="http://schemas.microsoft.com/office/drawing/2014/main" id="{3A575827-CFB0-4646-8D1D-C9CC9C8B08C5}"/>
              </a:ext>
            </a:extLst>
          </p:cNvPr>
          <p:cNvSpPr>
            <a:spLocks noGrp="1"/>
          </p:cNvSpPr>
          <p:nvPr>
            <p:ph type="title"/>
          </p:nvPr>
        </p:nvSpPr>
        <p:spPr>
          <a:xfrm>
            <a:off x="0" y="547027"/>
            <a:ext cx="9144000" cy="531790"/>
          </a:xfrm>
          <a:noFill/>
        </p:spPr>
        <p:txBody>
          <a:bodyPr>
            <a:normAutofit/>
          </a:bodyPr>
          <a:lstStyle/>
          <a:p>
            <a:pPr marL="0" indent="0" algn="ctr">
              <a:spcBef>
                <a:spcPts val="600"/>
              </a:spcBef>
              <a:spcAft>
                <a:spcPts val="600"/>
              </a:spcAft>
              <a:defRPr/>
            </a:pPr>
            <a:r>
              <a:rPr lang="es-AR" sz="2400" b="1" dirty="0">
                <a:solidFill>
                  <a:schemeClr val="tx1"/>
                </a:solidFill>
                <a:latin typeface="Verdana" pitchFamily="34" charset="0"/>
              </a:rPr>
              <a:t>Polimorfismo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fade">
                                      <p:cBhvr>
                                        <p:cTn id="7" dur="1000"/>
                                        <p:tgtEl>
                                          <p:spTgt spid="12291">
                                            <p:txEl>
                                              <p:pRg st="1" end="1"/>
                                            </p:txEl>
                                          </p:spTgt>
                                        </p:tgtEl>
                                      </p:cBhvr>
                                    </p:animEffect>
                                    <p:anim calcmode="lin" valueType="num">
                                      <p:cBhvr>
                                        <p:cTn id="8" dur="10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291">
                                            <p:txEl>
                                              <p:pRg st="2" end="2"/>
                                            </p:txEl>
                                          </p:spTgt>
                                        </p:tgtEl>
                                        <p:attrNameLst>
                                          <p:attrName>style.visibility</p:attrName>
                                        </p:attrNameLst>
                                      </p:cBhvr>
                                      <p:to>
                                        <p:strVal val="visible"/>
                                      </p:to>
                                    </p:set>
                                    <p:animEffect transition="in" filter="fade">
                                      <p:cBhvr>
                                        <p:cTn id="14" dur="1000"/>
                                        <p:tgtEl>
                                          <p:spTgt spid="12291">
                                            <p:txEl>
                                              <p:pRg st="2" end="2"/>
                                            </p:txEl>
                                          </p:spTgt>
                                        </p:tgtEl>
                                      </p:cBhvr>
                                    </p:animEffect>
                                    <p:anim calcmode="lin" valueType="num">
                                      <p:cBhvr>
                                        <p:cTn id="15" dur="10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29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BE895193-3A2E-1F19-8DCF-6C34E44D6969}"/>
              </a:ext>
            </a:extLst>
          </p:cNvPr>
          <p:cNvSpPr>
            <a:spLocks noGrp="1"/>
          </p:cNvSpPr>
          <p:nvPr>
            <p:ph type="ftr" sz="quarter" idx="11"/>
          </p:nvPr>
        </p:nvSpPr>
        <p:spPr/>
        <p:txBody>
          <a:bodyPr/>
          <a:lstStyle/>
          <a:p>
            <a:pPr>
              <a:defRPr/>
            </a:pPr>
            <a:r>
              <a:rPr lang="es-ES"/>
              <a:t>Lic. Claudio Godio - FAIN</a:t>
            </a:r>
          </a:p>
        </p:txBody>
      </p:sp>
      <p:sp>
        <p:nvSpPr>
          <p:cNvPr id="5" name="Marcador de número de diapositiva 4">
            <a:extLst>
              <a:ext uri="{FF2B5EF4-FFF2-40B4-BE49-F238E27FC236}">
                <a16:creationId xmlns:a16="http://schemas.microsoft.com/office/drawing/2014/main" id="{E7EEF129-2F63-5211-9472-53258EAAA695}"/>
              </a:ext>
            </a:extLst>
          </p:cNvPr>
          <p:cNvSpPr>
            <a:spLocks noGrp="1"/>
          </p:cNvSpPr>
          <p:nvPr>
            <p:ph type="sldNum" sz="quarter" idx="12"/>
          </p:nvPr>
        </p:nvSpPr>
        <p:spPr/>
        <p:txBody>
          <a:bodyPr/>
          <a:lstStyle/>
          <a:p>
            <a:pPr>
              <a:defRPr/>
            </a:pPr>
            <a:fld id="{EEBEB145-D773-4B0D-A431-673E72F162C5}" type="slidenum">
              <a:rPr lang="es-ES" smtClean="0"/>
              <a:pPr>
                <a:defRPr/>
              </a:pPr>
              <a:t>15</a:t>
            </a:fld>
            <a:endParaRPr lang="es-ES"/>
          </a:p>
        </p:txBody>
      </p:sp>
      <p:sp>
        <p:nvSpPr>
          <p:cNvPr id="7" name="CuadroTexto 6">
            <a:extLst>
              <a:ext uri="{FF2B5EF4-FFF2-40B4-BE49-F238E27FC236}">
                <a16:creationId xmlns:a16="http://schemas.microsoft.com/office/drawing/2014/main" id="{C002C33F-1646-B014-2B6D-FFB386564824}"/>
              </a:ext>
            </a:extLst>
          </p:cNvPr>
          <p:cNvSpPr txBox="1"/>
          <p:nvPr/>
        </p:nvSpPr>
        <p:spPr>
          <a:xfrm>
            <a:off x="755576" y="1700284"/>
            <a:ext cx="7416825" cy="3477875"/>
          </a:xfrm>
          <a:prstGeom prst="rect">
            <a:avLst/>
          </a:prstGeom>
          <a:noFill/>
        </p:spPr>
        <p:txBody>
          <a:bodyPr wrap="square">
            <a:spAutoFit/>
          </a:bodyPr>
          <a:lstStyle/>
          <a:p>
            <a:pPr algn="just" eaLnBrk="0" hangingPunct="0">
              <a:spcBef>
                <a:spcPts val="1200"/>
              </a:spcBef>
              <a:spcAft>
                <a:spcPts val="1200"/>
              </a:spcAft>
              <a:defRPr/>
            </a:pPr>
            <a:r>
              <a:rPr lang="es-AR" sz="2000" dirty="0">
                <a:solidFill>
                  <a:srgbClr val="000099"/>
                </a:solidFill>
                <a:latin typeface="Verdana" pitchFamily="34" charset="0"/>
              </a:rPr>
              <a:t>Polimorfismo en tiempo de compilación (estático):</a:t>
            </a:r>
          </a:p>
          <a:p>
            <a:pPr marL="342900" indent="-342900" algn="just" eaLnBrk="0" hangingPunct="0">
              <a:spcBef>
                <a:spcPts val="1200"/>
              </a:spcBef>
              <a:spcAft>
                <a:spcPts val="1200"/>
              </a:spcAft>
              <a:buFont typeface="Wingdings" pitchFamily="2" charset="2"/>
              <a:buChar char="Ø"/>
              <a:defRPr/>
            </a:pPr>
            <a:r>
              <a:rPr lang="es-AR" sz="2000" dirty="0">
                <a:solidFill>
                  <a:srgbClr val="000099"/>
                </a:solidFill>
                <a:latin typeface="Verdana" pitchFamily="34" charset="0"/>
              </a:rPr>
              <a:t>Se logra mediante sobrecarga de métodos (varios métodos con el mismo nombre pero diferentes parámetros).</a:t>
            </a:r>
          </a:p>
          <a:p>
            <a:pPr algn="just" eaLnBrk="0" hangingPunct="0">
              <a:spcBef>
                <a:spcPts val="1200"/>
              </a:spcBef>
              <a:spcAft>
                <a:spcPts val="1200"/>
              </a:spcAft>
              <a:defRPr/>
            </a:pPr>
            <a:r>
              <a:rPr lang="es-AR" sz="2000" dirty="0">
                <a:solidFill>
                  <a:srgbClr val="000099"/>
                </a:solidFill>
                <a:latin typeface="Verdana" pitchFamily="34" charset="0"/>
              </a:rPr>
              <a:t>Polimorfismo en tiempo de ejecución (dinámico):</a:t>
            </a:r>
          </a:p>
          <a:p>
            <a:pPr marL="342900" indent="-342900" algn="just" eaLnBrk="0" hangingPunct="0">
              <a:spcBef>
                <a:spcPts val="1200"/>
              </a:spcBef>
              <a:spcAft>
                <a:spcPts val="1200"/>
              </a:spcAft>
              <a:buFont typeface="Wingdings" pitchFamily="2" charset="2"/>
              <a:buChar char="Ø"/>
              <a:defRPr/>
            </a:pPr>
            <a:r>
              <a:rPr lang="es-AR" sz="2000" dirty="0">
                <a:solidFill>
                  <a:srgbClr val="000099"/>
                </a:solidFill>
                <a:latin typeface="Verdana" pitchFamily="34" charset="0"/>
              </a:rPr>
              <a:t>Se logra mediante herencia y sobreescritura de métodos (una clase base define un método y las clases derivadas lo implementan de forma distinta).</a:t>
            </a:r>
          </a:p>
        </p:txBody>
      </p:sp>
      <p:sp>
        <p:nvSpPr>
          <p:cNvPr id="8" name="Rectangle 3">
            <a:extLst>
              <a:ext uri="{FF2B5EF4-FFF2-40B4-BE49-F238E27FC236}">
                <a16:creationId xmlns:a16="http://schemas.microsoft.com/office/drawing/2014/main" id="{1E825A78-A74F-760C-642A-B0AF8CC08D66}"/>
              </a:ext>
            </a:extLst>
          </p:cNvPr>
          <p:cNvSpPr>
            <a:spLocks noGrp="1"/>
          </p:cNvSpPr>
          <p:nvPr>
            <p:ph type="title"/>
          </p:nvPr>
        </p:nvSpPr>
        <p:spPr>
          <a:xfrm>
            <a:off x="0" y="547027"/>
            <a:ext cx="9144000" cy="531790"/>
          </a:xfrm>
          <a:noFill/>
        </p:spPr>
        <p:txBody>
          <a:bodyPr>
            <a:normAutofit/>
          </a:bodyPr>
          <a:lstStyle/>
          <a:p>
            <a:pPr marL="0" indent="0" algn="ctr">
              <a:spcBef>
                <a:spcPts val="600"/>
              </a:spcBef>
              <a:spcAft>
                <a:spcPts val="600"/>
              </a:spcAft>
              <a:defRPr/>
            </a:pPr>
            <a:r>
              <a:rPr lang="es-AR" sz="2400" b="1" dirty="0">
                <a:solidFill>
                  <a:schemeClr val="tx1"/>
                </a:solidFill>
                <a:latin typeface="Verdana" pitchFamily="34" charset="0"/>
              </a:rPr>
              <a:t>Tipos de Polimorfismo</a:t>
            </a:r>
          </a:p>
        </p:txBody>
      </p:sp>
    </p:spTree>
    <p:extLst>
      <p:ext uri="{BB962C8B-B14F-4D97-AF65-F5344CB8AC3E}">
        <p14:creationId xmlns:p14="http://schemas.microsoft.com/office/powerpoint/2010/main" val="413792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pie de página"/>
          <p:cNvSpPr>
            <a:spLocks noGrp="1"/>
          </p:cNvSpPr>
          <p:nvPr>
            <p:ph type="ftr" sz="quarter" idx="11"/>
          </p:nvPr>
        </p:nvSpPr>
        <p:spPr/>
        <p:txBody>
          <a:bodyPr/>
          <a:lstStyle/>
          <a:p>
            <a:pPr>
              <a:defRPr/>
            </a:pPr>
            <a:r>
              <a:rPr lang="es-ES"/>
              <a:t>Lic. Claudio Godio - FAIN</a:t>
            </a:r>
          </a:p>
        </p:txBody>
      </p:sp>
      <p:sp>
        <p:nvSpPr>
          <p:cNvPr id="3" name="2 Marcador de número de diapositiva"/>
          <p:cNvSpPr>
            <a:spLocks noGrp="1"/>
          </p:cNvSpPr>
          <p:nvPr>
            <p:ph type="sldNum" sz="quarter" idx="12"/>
          </p:nvPr>
        </p:nvSpPr>
        <p:spPr/>
        <p:txBody>
          <a:bodyPr/>
          <a:lstStyle/>
          <a:p>
            <a:pPr>
              <a:defRPr/>
            </a:pPr>
            <a:fld id="{458096A4-0CD0-45FB-B593-01840392BFAC}" type="slidenum">
              <a:rPr lang="es-ES" smtClean="0"/>
              <a:pPr>
                <a:defRPr/>
              </a:pPr>
              <a:t>16</a:t>
            </a:fld>
            <a:endParaRPr lang="es-ES"/>
          </a:p>
        </p:txBody>
      </p:sp>
      <p:sp>
        <p:nvSpPr>
          <p:cNvPr id="63494" name="Text Box 6"/>
          <p:cNvSpPr txBox="1">
            <a:spLocks noChangeArrowheads="1"/>
          </p:cNvSpPr>
          <p:nvPr/>
        </p:nvSpPr>
        <p:spPr bwMode="auto">
          <a:xfrm>
            <a:off x="-180529" y="5160565"/>
            <a:ext cx="9144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 sz="3200" b="1" i="1" dirty="0">
                <a:solidFill>
                  <a:srgbClr val="800000"/>
                </a:solidFill>
              </a:rPr>
              <a:t>Java sólo permite herencia simple</a:t>
            </a:r>
            <a:endParaRPr lang="es-ES" sz="3200" dirty="0"/>
          </a:p>
        </p:txBody>
      </p:sp>
      <p:sp>
        <p:nvSpPr>
          <p:cNvPr id="10" name="Rectangle 3">
            <a:extLst>
              <a:ext uri="{FF2B5EF4-FFF2-40B4-BE49-F238E27FC236}">
                <a16:creationId xmlns:a16="http://schemas.microsoft.com/office/drawing/2014/main" id="{CB41A2FF-57E5-4E61-8C40-946AEECDB84D}"/>
              </a:ext>
            </a:extLst>
          </p:cNvPr>
          <p:cNvSpPr>
            <a:spLocks noGrp="1"/>
          </p:cNvSpPr>
          <p:nvPr>
            <p:ph type="title"/>
          </p:nvPr>
        </p:nvSpPr>
        <p:spPr>
          <a:xfrm>
            <a:off x="0" y="547027"/>
            <a:ext cx="9144000" cy="531790"/>
          </a:xfrm>
          <a:noFill/>
        </p:spPr>
        <p:txBody>
          <a:bodyPr>
            <a:normAutofit/>
          </a:bodyPr>
          <a:lstStyle/>
          <a:p>
            <a:pPr algn="ctr"/>
            <a:r>
              <a:rPr lang="es-ES" sz="2400" b="1" dirty="0">
                <a:solidFill>
                  <a:schemeClr val="tx2"/>
                </a:solidFill>
                <a:latin typeface="Verdana" pitchFamily="34" charset="0"/>
              </a:rPr>
              <a:t>Herencia</a:t>
            </a:r>
          </a:p>
        </p:txBody>
      </p:sp>
      <p:sp>
        <p:nvSpPr>
          <p:cNvPr id="8" name="CuadroTexto 7">
            <a:extLst>
              <a:ext uri="{FF2B5EF4-FFF2-40B4-BE49-F238E27FC236}">
                <a16:creationId xmlns:a16="http://schemas.microsoft.com/office/drawing/2014/main" id="{3D79C355-1E6E-B8D4-1E1E-94DBBE611B99}"/>
              </a:ext>
            </a:extLst>
          </p:cNvPr>
          <p:cNvSpPr txBox="1"/>
          <p:nvPr/>
        </p:nvSpPr>
        <p:spPr>
          <a:xfrm>
            <a:off x="934107" y="1078817"/>
            <a:ext cx="6914729" cy="3939540"/>
          </a:xfrm>
          <a:prstGeom prst="rect">
            <a:avLst/>
          </a:prstGeom>
          <a:noFill/>
        </p:spPr>
        <p:txBody>
          <a:bodyPr wrap="square">
            <a:spAutoFit/>
          </a:bodyPr>
          <a:lstStyle/>
          <a:p>
            <a:pPr marL="342900" indent="-342900" algn="just" eaLnBrk="0" hangingPunct="0">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Mecanismo que permite crear una nueva clase (llamada subclase o clase derivada) a partir de una clase existente (llamada superclase o clase base).</a:t>
            </a:r>
          </a:p>
          <a:p>
            <a:pPr marL="342900" indent="-342900" algn="just" eaLnBrk="0" hangingPunct="0">
              <a:spcBef>
                <a:spcPts val="1200"/>
              </a:spcBef>
              <a:spcAft>
                <a:spcPts val="1200"/>
              </a:spcAft>
              <a:buFont typeface="Wingdings" panose="05000000000000000000" pitchFamily="2" charset="2"/>
              <a:buChar char="Ø"/>
              <a:defRPr/>
            </a:pPr>
            <a:r>
              <a:rPr lang="es-AR" sz="2000" dirty="0">
                <a:solidFill>
                  <a:srgbClr val="000099"/>
                </a:solidFill>
                <a:latin typeface="Verdana" pitchFamily="34" charset="0"/>
              </a:rPr>
              <a:t>Permite reutilizar código, extender funciona-</a:t>
            </a:r>
            <a:r>
              <a:rPr lang="es-AR" sz="2000" dirty="0" err="1">
                <a:solidFill>
                  <a:srgbClr val="000099"/>
                </a:solidFill>
                <a:latin typeface="Verdana" pitchFamily="34" charset="0"/>
              </a:rPr>
              <a:t>lidades</a:t>
            </a:r>
            <a:r>
              <a:rPr lang="es-AR" sz="2000" dirty="0">
                <a:solidFill>
                  <a:srgbClr val="000099"/>
                </a:solidFill>
                <a:latin typeface="Verdana" pitchFamily="34" charset="0"/>
              </a:rPr>
              <a:t> y organizar jerarquías de clases.</a:t>
            </a:r>
          </a:p>
          <a:p>
            <a:pPr marL="342900" indent="-342900" algn="just" eaLnBrk="0" hangingPunct="0">
              <a:spcBef>
                <a:spcPts val="1200"/>
              </a:spcBef>
              <a:spcAft>
                <a:spcPts val="1200"/>
              </a:spcAft>
              <a:buFont typeface="Wingdings" panose="05000000000000000000" pitchFamily="2" charset="2"/>
              <a:buChar char="Ø"/>
              <a:defRPr/>
            </a:pPr>
            <a:r>
              <a:rPr lang="es-AR" sz="2000" b="1" i="1" dirty="0">
                <a:solidFill>
                  <a:srgbClr val="000099"/>
                </a:solidFill>
                <a:latin typeface="Verdana" pitchFamily="34" charset="0"/>
              </a:rPr>
              <a:t>Herencia simple:</a:t>
            </a:r>
            <a:r>
              <a:rPr lang="es-AR" sz="2000" dirty="0">
                <a:solidFill>
                  <a:srgbClr val="000099"/>
                </a:solidFill>
                <a:latin typeface="Verdana" pitchFamily="34" charset="0"/>
              </a:rPr>
              <a:t> se hereda de una sola clase base.</a:t>
            </a:r>
          </a:p>
          <a:p>
            <a:pPr marL="342900" indent="-342900">
              <a:buFont typeface="Wingdings" panose="05000000000000000000" pitchFamily="2" charset="2"/>
              <a:buChar char="Ø"/>
            </a:pPr>
            <a:r>
              <a:rPr lang="es-AR" sz="2000" b="1" i="1" dirty="0">
                <a:solidFill>
                  <a:srgbClr val="000099"/>
                </a:solidFill>
                <a:latin typeface="Verdana" pitchFamily="34" charset="0"/>
              </a:rPr>
              <a:t>Herencia múltiple:</a:t>
            </a:r>
            <a:r>
              <a:rPr lang="es-AR" sz="2000" dirty="0">
                <a:solidFill>
                  <a:srgbClr val="000099"/>
                </a:solidFill>
                <a:latin typeface="Verdana" pitchFamily="34" charset="0"/>
              </a:rPr>
              <a:t> puede heredar de dos o más clases base.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3494"/>
                                        </p:tgtEl>
                                        <p:attrNameLst>
                                          <p:attrName>style.visibility</p:attrName>
                                        </p:attrNameLst>
                                      </p:cBhvr>
                                      <p:to>
                                        <p:strVal val="visible"/>
                                      </p:to>
                                    </p:set>
                                    <p:animEffect transition="in" filter="fade">
                                      <p:cBhvr>
                                        <p:cTn id="7" dur="1000"/>
                                        <p:tgtEl>
                                          <p:spTgt spid="63494"/>
                                        </p:tgtEl>
                                      </p:cBhvr>
                                    </p:animEffect>
                                    <p:anim calcmode="lin" valueType="num">
                                      <p:cBhvr>
                                        <p:cTn id="8" dur="1000" fill="hold"/>
                                        <p:tgtEl>
                                          <p:spTgt spid="63494"/>
                                        </p:tgtEl>
                                        <p:attrNameLst>
                                          <p:attrName>ppt_x</p:attrName>
                                        </p:attrNameLst>
                                      </p:cBhvr>
                                      <p:tavLst>
                                        <p:tav tm="0">
                                          <p:val>
                                            <p:strVal val="#ppt_x"/>
                                          </p:val>
                                        </p:tav>
                                        <p:tav tm="100000">
                                          <p:val>
                                            <p:strVal val="#ppt_x"/>
                                          </p:val>
                                        </p:tav>
                                      </p:tavLst>
                                    </p:anim>
                                    <p:anim calcmode="lin" valueType="num">
                                      <p:cBhvr>
                                        <p:cTn id="9" dur="1000" fill="hold"/>
                                        <p:tgtEl>
                                          <p:spTgt spid="6349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fade">
                                      <p:cBhvr>
                                        <p:cTn id="28" dur="1000"/>
                                        <p:tgtEl>
                                          <p:spTgt spid="8">
                                            <p:txEl>
                                              <p:pRg st="3" end="3"/>
                                            </p:txEl>
                                          </p:spTgt>
                                        </p:tgtEl>
                                      </p:cBhvr>
                                    </p:animEffect>
                                    <p:anim calcmode="lin" valueType="num">
                                      <p:cBhvr>
                                        <p:cTn id="29"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3494">
                                            <p:txEl>
                                              <p:pRg st="0" end="0"/>
                                            </p:txEl>
                                          </p:spTgt>
                                        </p:tgtEl>
                                        <p:attrNameLst>
                                          <p:attrName>style.visibility</p:attrName>
                                        </p:attrNameLst>
                                      </p:cBhvr>
                                      <p:to>
                                        <p:strVal val="visible"/>
                                      </p:to>
                                    </p:set>
                                    <p:animEffect transition="in" filter="fade">
                                      <p:cBhvr>
                                        <p:cTn id="35" dur="1000"/>
                                        <p:tgtEl>
                                          <p:spTgt spid="63494">
                                            <p:txEl>
                                              <p:pRg st="0" end="0"/>
                                            </p:txEl>
                                          </p:spTgt>
                                        </p:tgtEl>
                                      </p:cBhvr>
                                    </p:animEffect>
                                    <p:anim calcmode="lin" valueType="num">
                                      <p:cBhvr>
                                        <p:cTn id="36" dur="1000" fill="hold"/>
                                        <p:tgtEl>
                                          <p:spTgt spid="63494">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6349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4" name="Straight Connector 13">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7"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8" name="Isosceles Triangle 17">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9"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1"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2" name="Isosceles Triangle 21">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3" name="Isosceles Triangle 22">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grpSp>
      <p:sp>
        <p:nvSpPr>
          <p:cNvPr id="25" name="Rectangle 24">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8" name="Straight Connector 27">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0"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1" name="Isosceles Triangle 30">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2"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3"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4"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5" name="Isosceles Triangle 34">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6" name="Isosceles Triangle 35">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grpSp>
      <p:sp>
        <p:nvSpPr>
          <p:cNvPr id="38" name="Rectangle 37">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descr="Imagen que contiene dibujo&#10;&#10;Descripción generada automáticamente">
            <a:extLst>
              <a:ext uri="{FF2B5EF4-FFF2-40B4-BE49-F238E27FC236}">
                <a16:creationId xmlns:a16="http://schemas.microsoft.com/office/drawing/2014/main" id="{067EBECD-C431-4197-AAE4-78623E61CFA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44731" y="1470001"/>
            <a:ext cx="7455945" cy="3914371"/>
          </a:xfrm>
          <a:prstGeom prst="rect">
            <a:avLst/>
          </a:prstGeom>
        </p:spPr>
      </p:pic>
      <p:sp>
        <p:nvSpPr>
          <p:cNvPr id="4" name="Marcador de pie de página 3">
            <a:extLst>
              <a:ext uri="{FF2B5EF4-FFF2-40B4-BE49-F238E27FC236}">
                <a16:creationId xmlns:a16="http://schemas.microsoft.com/office/drawing/2014/main" id="{541FEB27-6C0A-4D90-90C1-D106D0242137}"/>
              </a:ext>
            </a:extLst>
          </p:cNvPr>
          <p:cNvSpPr>
            <a:spLocks noGrp="1"/>
          </p:cNvSpPr>
          <p:nvPr>
            <p:ph type="ftr" sz="quarter" idx="11"/>
          </p:nvPr>
        </p:nvSpPr>
        <p:spPr>
          <a:xfrm>
            <a:off x="490416" y="6411619"/>
            <a:ext cx="4723209" cy="365125"/>
          </a:xfrm>
        </p:spPr>
        <p:txBody>
          <a:bodyPr vert="horz" lIns="91440" tIns="45720" rIns="91440" bIns="45720" rtlCol="0" anchor="ctr">
            <a:normAutofit/>
          </a:bodyPr>
          <a:lstStyle/>
          <a:p>
            <a:pPr>
              <a:spcAft>
                <a:spcPts val="600"/>
              </a:spcAft>
              <a:defRPr/>
            </a:pPr>
            <a:r>
              <a:rPr lang="en-US" kern="1200">
                <a:solidFill>
                  <a:srgbClr val="FFFFFF"/>
                </a:solidFill>
                <a:latin typeface="+mn-lt"/>
                <a:ea typeface="+mn-ea"/>
                <a:cs typeface="+mn-cs"/>
              </a:rPr>
              <a:t>Lic. Claudio Godio - FAIN</a:t>
            </a:r>
          </a:p>
        </p:txBody>
      </p:sp>
      <p:sp>
        <p:nvSpPr>
          <p:cNvPr id="5" name="Marcador de número de diapositiva 4">
            <a:extLst>
              <a:ext uri="{FF2B5EF4-FFF2-40B4-BE49-F238E27FC236}">
                <a16:creationId xmlns:a16="http://schemas.microsoft.com/office/drawing/2014/main" id="{06D57CBA-8A36-47D0-9F9B-F546E7D32E8A}"/>
              </a:ext>
            </a:extLst>
          </p:cNvPr>
          <p:cNvSpPr>
            <a:spLocks noGrp="1"/>
          </p:cNvSpPr>
          <p:nvPr>
            <p:ph type="sldNum" sz="quarter" idx="12"/>
          </p:nvPr>
        </p:nvSpPr>
        <p:spPr>
          <a:xfrm>
            <a:off x="8148895" y="6411619"/>
            <a:ext cx="512504" cy="365125"/>
          </a:xfrm>
        </p:spPr>
        <p:txBody>
          <a:bodyPr vert="horz" lIns="91440" tIns="45720" rIns="91440" bIns="45720" rtlCol="0" anchor="ctr">
            <a:normAutofit/>
          </a:bodyPr>
          <a:lstStyle/>
          <a:p>
            <a:pPr>
              <a:spcAft>
                <a:spcPts val="600"/>
              </a:spcAft>
              <a:defRPr/>
            </a:pPr>
            <a:fld id="{EEBEB145-D773-4B0D-A431-673E72F162C5}" type="slidenum">
              <a:rPr lang="en-US">
                <a:solidFill>
                  <a:srgbClr val="FFFFFF"/>
                </a:solidFill>
              </a:rPr>
              <a:pPr>
                <a:spcAft>
                  <a:spcPts val="600"/>
                </a:spcAft>
                <a:defRPr/>
              </a:pPr>
              <a:t>17</a:t>
            </a:fld>
            <a:endParaRPr lang="en-US">
              <a:solidFill>
                <a:srgbClr val="FFFFFF"/>
              </a:solidFill>
            </a:endParaRPr>
          </a:p>
        </p:txBody>
      </p:sp>
    </p:spTree>
    <p:extLst>
      <p:ext uri="{BB962C8B-B14F-4D97-AF65-F5344CB8AC3E}">
        <p14:creationId xmlns:p14="http://schemas.microsoft.com/office/powerpoint/2010/main" val="335689902"/>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9529ED485687F4FA5EC4B4139213020" ma:contentTypeVersion="7" ma:contentTypeDescription="Crear nuevo documento." ma:contentTypeScope="" ma:versionID="35f1b07eef5ed9fd10c9c746bce4018a">
  <xsd:schema xmlns:xsd="http://www.w3.org/2001/XMLSchema" xmlns:xs="http://www.w3.org/2001/XMLSchema" xmlns:p="http://schemas.microsoft.com/office/2006/metadata/properties" xmlns:ns2="785ba692-cf77-4161-a415-e78c0ee138c6" targetNamespace="http://schemas.microsoft.com/office/2006/metadata/properties" ma:root="true" ma:fieldsID="763587302d004238b9feaeee51789601" ns2:_="">
    <xsd:import namespace="785ba692-cf77-4161-a415-e78c0ee138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5ba692-cf77-4161-a415-e78c0ee138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8C8081D-B428-4E8E-9BE2-91D68A17ADBA}"/>
</file>

<file path=customXml/itemProps2.xml><?xml version="1.0" encoding="utf-8"?>
<ds:datastoreItem xmlns:ds="http://schemas.openxmlformats.org/officeDocument/2006/customXml" ds:itemID="{52A2626A-AB10-4E55-B044-962CC63C9F1D}"/>
</file>

<file path=customXml/itemProps3.xml><?xml version="1.0" encoding="utf-8"?>
<ds:datastoreItem xmlns:ds="http://schemas.openxmlformats.org/officeDocument/2006/customXml" ds:itemID="{A3448323-740F-4F95-932D-41ADDF7466C8}"/>
</file>

<file path=docProps/app.xml><?xml version="1.0" encoding="utf-8"?>
<Properties xmlns="http://schemas.openxmlformats.org/officeDocument/2006/extended-properties" xmlns:vt="http://schemas.openxmlformats.org/officeDocument/2006/docPropsVTypes">
  <Template>Facet</Template>
  <TotalTime>3238</TotalTime>
  <Words>1363</Words>
  <Application>Microsoft Office PowerPoint</Application>
  <PresentationFormat>Presentación en pantalla (4:3)</PresentationFormat>
  <Paragraphs>146</Paragraphs>
  <Slides>17</Slides>
  <Notes>14</Notes>
  <HiddenSlides>0</HiddenSlides>
  <MMClips>0</MMClips>
  <ScaleCrop>false</ScaleCrop>
  <HeadingPairs>
    <vt:vector size="4" baseType="variant">
      <vt:variant>
        <vt:lpstr>Tema</vt:lpstr>
      </vt:variant>
      <vt:variant>
        <vt:i4>1</vt:i4>
      </vt:variant>
      <vt:variant>
        <vt:lpstr>Títulos de diapositiva</vt:lpstr>
      </vt:variant>
      <vt:variant>
        <vt:i4>17</vt:i4>
      </vt:variant>
    </vt:vector>
  </HeadingPairs>
  <TitlesOfParts>
    <vt:vector size="18" baseType="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Abstracción </vt:lpstr>
      <vt:lpstr>Ejemplo </vt:lpstr>
      <vt:lpstr>Presentación de PowerPoint</vt:lpstr>
      <vt:lpstr>Presentación de PowerPoint</vt:lpstr>
      <vt:lpstr>Presentación de PowerPoint</vt:lpstr>
      <vt:lpstr>Presentación de PowerPoint</vt:lpstr>
      <vt:lpstr>Polimorfismo</vt:lpstr>
      <vt:lpstr>Tipos de Polimorfismo</vt:lpstr>
      <vt:lpstr>Herencia</vt:lpstr>
      <vt:lpstr>Presentación de PowerPoint</vt:lpstr>
    </vt:vector>
  </TitlesOfParts>
  <Company>UADE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Laboratorio de Informática</dc:creator>
  <cp:lastModifiedBy>Claudio</cp:lastModifiedBy>
  <cp:revision>131</cp:revision>
  <cp:lastPrinted>2012-08-10T16:54:46Z</cp:lastPrinted>
  <dcterms:created xsi:type="dcterms:W3CDTF">2008-04-07T16:20:05Z</dcterms:created>
  <dcterms:modified xsi:type="dcterms:W3CDTF">2025-08-13T20:22:54Z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0x010100C9529ED485687F4FA5EC4B4139213020</vt:lpwstr>
  </property>
  <property fmtid="{D5CDD505-2E9C-101B-9397-08002B2CF9AE}" pid="3" name="Order">
    <vt:r8>97081000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ies>
</file>